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Arimo"/>
      <p:regular r:id="rId27"/>
      <p:bold r:id="rId28"/>
      <p:italic r:id="rId29"/>
      <p:boldItalic r:id="rId30"/>
    </p:embeddedFont>
    <p:embeddedFont>
      <p:font typeface="Prompt"/>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Arimo-bold.fntdata"/><Relationship Id="rId27" Type="http://schemas.openxmlformats.org/officeDocument/2006/relationships/font" Target="fonts/Arim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im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mpt-bold.fntdata"/><Relationship Id="rId30" Type="http://schemas.openxmlformats.org/officeDocument/2006/relationships/font" Target="fonts/Arimo-boldItalic.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Promp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4" name="Google Shape;10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5" name="Google Shape;10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8" name="Google Shape;10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1" name="Google Shape;121;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2" name="Google Shape;122;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5" name="Google Shape;125;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5" name="Google Shape;14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6" name="Google Shape;146;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9" name="Google Shape;14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2" name="Google Shape;162;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3" name="Google Shape;163;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6" name="Google Shape;166;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9" name="Google Shape;179;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0" name="Google Shape;180;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3" name="Google Shape;183;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6" name="Google Shape;196;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9" name="Google Shape;19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9" name="Google Shape;219;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0" name="Google Shape;220;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3" name="Google Shape;223;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0" name="Google Shape;250;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1" name="Google Shape;251;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4" name="Google Shape;254;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4" name="Google Shape;274;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5" name="Google Shape;275;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8" name="Google Shape;278;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1" name="Google Shape;291;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2" name="Google Shape;292;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5" name="Google Shape;295;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5" name="Google Shape;315;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6" name="Google Shape;316;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9" name="Google Shape;319;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2" name="Google Shape;332;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3" name="Google Shape;333;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6" name="Google Shape;336;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6" name="Google Shape;356;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7" name="Google Shape;357;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0" name="Google Shape;360;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3" name="Google Shape;373;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4" name="Google Shape;374;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7" name="Google Shape;377;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0" name="Google Shape;400;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1" name="Google Shape;401;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4" name="Google Shape;404;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7" name="Google Shape;417;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8" name="Google Shape;418;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1" name="Google Shape;421;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4" name="Google Shape;434;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5" name="Google Shape;435;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8" name="Google Shape;438;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5" name="Google Shape;465;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6" name="Google Shape;466;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9" name="Google Shape;469;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2" name="Google Shape;482;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83" name="Google Shape;483;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6" name="Google Shape;486;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10" name="Google Shape;510;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11" name="Google Shape;511;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14" name="Google Shape;514;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24.png"/><Relationship Id="rId7" Type="http://schemas.openxmlformats.org/officeDocument/2006/relationships/image" Target="../media/image9.png"/><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1.png"/><Relationship Id="rId4" Type="http://schemas.openxmlformats.org/officeDocument/2006/relationships/image" Target="../media/image22.png"/><Relationship Id="rId9" Type="http://schemas.openxmlformats.org/officeDocument/2006/relationships/image" Target="../media/image30.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0.png"/><Relationship Id="rId8"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17.png"/><Relationship Id="rId9"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27.png"/><Relationship Id="rId7" Type="http://schemas.openxmlformats.org/officeDocument/2006/relationships/image" Target="../media/image44.png"/><Relationship Id="rId8"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33.png"/><Relationship Id="rId6" Type="http://schemas.openxmlformats.org/officeDocument/2006/relationships/image" Target="../media/image39.png"/><Relationship Id="rId7"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33.png"/><Relationship Id="rId6" Type="http://schemas.openxmlformats.org/officeDocument/2006/relationships/image" Target="../media/image39.png"/><Relationship Id="rId7"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1.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14176254" y="3601956"/>
            <a:ext cx="3092954" cy="3088170"/>
          </a:xfrm>
          <a:custGeom>
            <a:rect b="b" l="l" r="r" t="t"/>
            <a:pathLst>
              <a:path extrusionOk="0" h="3088170" w="3092954">
                <a:moveTo>
                  <a:pt x="0" y="0"/>
                </a:moveTo>
                <a:lnTo>
                  <a:pt x="3092954" y="0"/>
                </a:lnTo>
                <a:lnTo>
                  <a:pt x="3092954" y="3088170"/>
                </a:lnTo>
                <a:lnTo>
                  <a:pt x="0" y="3088170"/>
                </a:lnTo>
                <a:lnTo>
                  <a:pt x="0" y="0"/>
                </a:lnTo>
                <a:close/>
              </a:path>
            </a:pathLst>
          </a:custGeom>
          <a:blipFill rotWithShape="1">
            <a:blip r:embed="rId3">
              <a:alphaModFix/>
            </a:blip>
            <a:stretch>
              <a:fillRect b="0" l="0" r="0" t="0"/>
            </a:stretch>
          </a:blipFill>
          <a:ln>
            <a:noFill/>
          </a:ln>
        </p:spPr>
      </p:sp>
      <p:sp>
        <p:nvSpPr>
          <p:cNvPr id="94" name="Google Shape;94;p13"/>
          <p:cNvSpPr txBox="1"/>
          <p:nvPr/>
        </p:nvSpPr>
        <p:spPr>
          <a:xfrm>
            <a:off x="1028700" y="2795500"/>
            <a:ext cx="10054712" cy="2752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9000" u="none" cap="none" strike="noStrike">
                <a:solidFill>
                  <a:srgbClr val="5757E8"/>
                </a:solidFill>
                <a:latin typeface="Prompt"/>
                <a:ea typeface="Prompt"/>
                <a:cs typeface="Prompt"/>
                <a:sym typeface="Prompt"/>
              </a:rPr>
              <a:t>Moonshot:</a:t>
            </a:r>
            <a:endParaRPr/>
          </a:p>
          <a:p>
            <a:pPr indent="0" lvl="0" marL="0" marR="0" rtl="0" algn="l">
              <a:lnSpc>
                <a:spcPct val="120000"/>
              </a:lnSpc>
              <a:spcBef>
                <a:spcPts val="0"/>
              </a:spcBef>
              <a:spcAft>
                <a:spcPts val="0"/>
              </a:spcAft>
              <a:buNone/>
            </a:pPr>
            <a:r>
              <a:rPr b="1" i="0" lang="en-US" sz="9000" u="none" cap="none" strike="noStrike">
                <a:solidFill>
                  <a:srgbClr val="000000"/>
                </a:solidFill>
                <a:latin typeface="Prompt"/>
                <a:ea typeface="Prompt"/>
                <a:cs typeface="Prompt"/>
                <a:sym typeface="Prompt"/>
              </a:rPr>
              <a:t>PDF Accessibility</a:t>
            </a:r>
            <a:endParaRPr/>
          </a:p>
        </p:txBody>
      </p:sp>
      <p:sp>
        <p:nvSpPr>
          <p:cNvPr id="95" name="Google Shape;95;p13"/>
          <p:cNvSpPr txBox="1"/>
          <p:nvPr/>
        </p:nvSpPr>
        <p:spPr>
          <a:xfrm>
            <a:off x="1521625" y="7525668"/>
            <a:ext cx="9049950" cy="5143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434343"/>
                </a:solidFill>
                <a:latin typeface="Arimo"/>
                <a:ea typeface="Arimo"/>
                <a:cs typeface="Arimo"/>
                <a:sym typeface="Arimo"/>
              </a:rPr>
              <a:t>Lucas AUBARD</a:t>
            </a:r>
            <a:endParaRPr/>
          </a:p>
        </p:txBody>
      </p:sp>
      <p:cxnSp>
        <p:nvCxnSpPr>
          <p:cNvPr id="96" name="Google Shape;96;p13"/>
          <p:cNvCxnSpPr/>
          <p:nvPr/>
        </p:nvCxnSpPr>
        <p:spPr>
          <a:xfrm rot="11447">
            <a:off x="1015837" y="6456100"/>
            <a:ext cx="5720882" cy="0"/>
          </a:xfrm>
          <a:prstGeom prst="straightConnector1">
            <a:avLst/>
          </a:prstGeom>
          <a:noFill/>
          <a:ln cap="rnd" cmpd="sng" w="9525">
            <a:solidFill>
              <a:srgbClr val="434343"/>
            </a:solidFill>
            <a:prstDash val="solid"/>
            <a:round/>
            <a:headEnd len="sm" w="sm" type="none"/>
            <a:tailEnd len="sm" w="sm" type="none"/>
          </a:ln>
        </p:spPr>
      </p:cxnSp>
      <p:sp>
        <p:nvSpPr>
          <p:cNvPr id="97" name="Google Shape;97;p13"/>
          <p:cNvSpPr/>
          <p:nvPr/>
        </p:nvSpPr>
        <p:spPr>
          <a:xfrm>
            <a:off x="11083754" y="509092"/>
            <a:ext cx="3092980" cy="3088340"/>
          </a:xfrm>
          <a:custGeom>
            <a:rect b="b" l="l" r="r" t="t"/>
            <a:pathLst>
              <a:path extrusionOk="0" h="3088340" w="3092980">
                <a:moveTo>
                  <a:pt x="0" y="0"/>
                </a:moveTo>
                <a:lnTo>
                  <a:pt x="3092980" y="0"/>
                </a:lnTo>
                <a:lnTo>
                  <a:pt x="3092980" y="3088340"/>
                </a:lnTo>
                <a:lnTo>
                  <a:pt x="0" y="3088340"/>
                </a:lnTo>
                <a:lnTo>
                  <a:pt x="0" y="0"/>
                </a:lnTo>
                <a:close/>
              </a:path>
            </a:pathLst>
          </a:custGeom>
          <a:blipFill rotWithShape="1">
            <a:blip r:embed="rId4">
              <a:alphaModFix/>
            </a:blip>
            <a:stretch>
              <a:fillRect b="0" l="0" r="0" t="0"/>
            </a:stretch>
          </a:blipFill>
          <a:ln>
            <a:noFill/>
          </a:ln>
        </p:spPr>
      </p:sp>
      <p:sp>
        <p:nvSpPr>
          <p:cNvPr id="98" name="Google Shape;98;p13"/>
          <p:cNvSpPr/>
          <p:nvPr/>
        </p:nvSpPr>
        <p:spPr>
          <a:xfrm>
            <a:off x="14175034" y="506056"/>
            <a:ext cx="3092766" cy="3092524"/>
          </a:xfrm>
          <a:custGeom>
            <a:rect b="b" l="l" r="r" t="t"/>
            <a:pathLst>
              <a:path extrusionOk="0" h="3092524" w="3092766">
                <a:moveTo>
                  <a:pt x="0" y="0"/>
                </a:moveTo>
                <a:lnTo>
                  <a:pt x="3092766" y="0"/>
                </a:lnTo>
                <a:lnTo>
                  <a:pt x="3092766" y="3092524"/>
                </a:lnTo>
                <a:lnTo>
                  <a:pt x="0" y="3092524"/>
                </a:lnTo>
                <a:lnTo>
                  <a:pt x="0" y="0"/>
                </a:lnTo>
                <a:close/>
              </a:path>
            </a:pathLst>
          </a:custGeom>
          <a:blipFill rotWithShape="1">
            <a:blip r:embed="rId5">
              <a:alphaModFix/>
            </a:blip>
            <a:stretch>
              <a:fillRect b="0" l="0" r="0" t="0"/>
            </a:stretch>
          </a:blipFill>
          <a:ln>
            <a:noFill/>
          </a:ln>
        </p:spPr>
      </p:sp>
      <p:sp>
        <p:nvSpPr>
          <p:cNvPr id="99" name="Google Shape;99;p13"/>
          <p:cNvSpPr/>
          <p:nvPr/>
        </p:nvSpPr>
        <p:spPr>
          <a:xfrm>
            <a:off x="11084082" y="3597320"/>
            <a:ext cx="3092948" cy="3092754"/>
          </a:xfrm>
          <a:custGeom>
            <a:rect b="b" l="l" r="r" t="t"/>
            <a:pathLst>
              <a:path extrusionOk="0" h="3092754" w="3092948">
                <a:moveTo>
                  <a:pt x="0" y="0"/>
                </a:moveTo>
                <a:lnTo>
                  <a:pt x="3092948" y="0"/>
                </a:lnTo>
                <a:lnTo>
                  <a:pt x="3092948" y="3092754"/>
                </a:lnTo>
                <a:lnTo>
                  <a:pt x="0" y="3092754"/>
                </a:lnTo>
                <a:lnTo>
                  <a:pt x="0" y="0"/>
                </a:lnTo>
                <a:close/>
              </a:path>
            </a:pathLst>
          </a:custGeom>
          <a:blipFill rotWithShape="1">
            <a:blip r:embed="rId6">
              <a:alphaModFix/>
            </a:blip>
            <a:stretch>
              <a:fillRect b="0" l="0" r="0" t="0"/>
            </a:stretch>
          </a:blipFill>
          <a:ln>
            <a:noFill/>
          </a:ln>
        </p:spPr>
      </p:sp>
      <p:sp>
        <p:nvSpPr>
          <p:cNvPr id="100" name="Google Shape;100;p13"/>
          <p:cNvSpPr/>
          <p:nvPr/>
        </p:nvSpPr>
        <p:spPr>
          <a:xfrm>
            <a:off x="11083412" y="6692572"/>
            <a:ext cx="3092912" cy="3088170"/>
          </a:xfrm>
          <a:custGeom>
            <a:rect b="b" l="l" r="r" t="t"/>
            <a:pathLst>
              <a:path extrusionOk="0" h="3088170" w="3092912">
                <a:moveTo>
                  <a:pt x="0" y="0"/>
                </a:moveTo>
                <a:lnTo>
                  <a:pt x="3092912" y="0"/>
                </a:lnTo>
                <a:lnTo>
                  <a:pt x="3092912" y="3088170"/>
                </a:lnTo>
                <a:lnTo>
                  <a:pt x="0" y="3088170"/>
                </a:lnTo>
                <a:lnTo>
                  <a:pt x="0" y="0"/>
                </a:lnTo>
                <a:close/>
              </a:path>
            </a:pathLst>
          </a:custGeom>
          <a:blipFill rotWithShape="1">
            <a:blip r:embed="rId7">
              <a:alphaModFix/>
            </a:blip>
            <a:stretch>
              <a:fillRect b="0" l="0" r="0" t="0"/>
            </a:stretch>
          </a:blipFill>
          <a:ln>
            <a:noFill/>
          </a:ln>
        </p:spPr>
      </p:sp>
      <p:sp>
        <p:nvSpPr>
          <p:cNvPr id="101" name="Google Shape;101;p13"/>
          <p:cNvSpPr/>
          <p:nvPr/>
        </p:nvSpPr>
        <p:spPr>
          <a:xfrm>
            <a:off x="14176580" y="6692612"/>
            <a:ext cx="3092948" cy="3092924"/>
          </a:xfrm>
          <a:custGeom>
            <a:rect b="b" l="l" r="r" t="t"/>
            <a:pathLst>
              <a:path extrusionOk="0" h="3092924" w="3092948">
                <a:moveTo>
                  <a:pt x="0" y="0"/>
                </a:moveTo>
                <a:lnTo>
                  <a:pt x="3092948" y="0"/>
                </a:lnTo>
                <a:lnTo>
                  <a:pt x="3092948" y="3092924"/>
                </a:lnTo>
                <a:lnTo>
                  <a:pt x="0" y="3092924"/>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4"/>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txBox="1"/>
          <p:nvPr/>
        </p:nvSpPr>
        <p:spPr>
          <a:xfrm>
            <a:off x="9235425" y="5534125"/>
            <a:ext cx="6454950" cy="3667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Initial Ideas</a:t>
            </a:r>
            <a:endParaRPr/>
          </a:p>
        </p:txBody>
      </p:sp>
      <p:sp>
        <p:nvSpPr>
          <p:cNvPr id="112" name="Google Shape;112;p14"/>
          <p:cNvSpPr txBox="1"/>
          <p:nvPr/>
        </p:nvSpPr>
        <p:spPr>
          <a:xfrm>
            <a:off x="9235425" y="3339550"/>
            <a:ext cx="2560350" cy="2569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01</a:t>
            </a:r>
            <a:endParaRPr/>
          </a:p>
        </p:txBody>
      </p:sp>
      <p:sp>
        <p:nvSpPr>
          <p:cNvPr id="113" name="Google Shape;113;p14"/>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114" name="Google Shape;114;p14"/>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115" name="Google Shape;115;p14"/>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116" name="Google Shape;116;p14"/>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117" name="Google Shape;117;p14"/>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118" name="Google Shape;118;p14"/>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1000348" y="9217365"/>
            <a:ext cx="1139095" cy="559118"/>
          </a:xfrm>
          <a:custGeom>
            <a:rect b="b" l="l" r="r" t="t"/>
            <a:pathLst>
              <a:path extrusionOk="0" h="745490" w="1518793">
                <a:moveTo>
                  <a:pt x="759841" y="0"/>
                </a:moveTo>
                <a:cubicBezTo>
                  <a:pt x="344170" y="0"/>
                  <a:pt x="7239" y="333248"/>
                  <a:pt x="0" y="745490"/>
                </a:cubicBezTo>
                <a:lnTo>
                  <a:pt x="1518793" y="745490"/>
                </a:lnTo>
                <a:cubicBezTo>
                  <a:pt x="1511554" y="333248"/>
                  <a:pt x="1174623" y="0"/>
                  <a:pt x="759841"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1732619" y="9217365"/>
            <a:ext cx="1138714" cy="559118"/>
          </a:xfrm>
          <a:custGeom>
            <a:rect b="b" l="l" r="r" t="t"/>
            <a:pathLst>
              <a:path extrusionOk="0" h="745490" w="1518285">
                <a:moveTo>
                  <a:pt x="758952" y="0"/>
                </a:moveTo>
                <a:cubicBezTo>
                  <a:pt x="343662" y="0"/>
                  <a:pt x="6731" y="333248"/>
                  <a:pt x="0" y="745490"/>
                </a:cubicBezTo>
                <a:lnTo>
                  <a:pt x="1518285" y="745490"/>
                </a:lnTo>
                <a:cubicBezTo>
                  <a:pt x="1511046" y="333248"/>
                  <a:pt x="1174623" y="0"/>
                  <a:pt x="758952"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2399061" y="9217365"/>
            <a:ext cx="1138714" cy="559118"/>
          </a:xfrm>
          <a:custGeom>
            <a:rect b="b" l="l" r="r" t="t"/>
            <a:pathLst>
              <a:path extrusionOk="0" h="745490" w="1518285">
                <a:moveTo>
                  <a:pt x="758952" y="0"/>
                </a:moveTo>
                <a:cubicBezTo>
                  <a:pt x="343662" y="0"/>
                  <a:pt x="7239" y="333248"/>
                  <a:pt x="0" y="745490"/>
                </a:cubicBezTo>
                <a:lnTo>
                  <a:pt x="1518285" y="745490"/>
                </a:lnTo>
                <a:cubicBezTo>
                  <a:pt x="1511554" y="333248"/>
                  <a:pt x="1174623" y="0"/>
                  <a:pt x="758952"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txBox="1"/>
          <p:nvPr/>
        </p:nvSpPr>
        <p:spPr>
          <a:xfrm>
            <a:off x="10330097" y="4584955"/>
            <a:ext cx="48283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AI Meal Creator</a:t>
            </a:r>
            <a:endParaRPr/>
          </a:p>
        </p:txBody>
      </p:sp>
      <p:sp>
        <p:nvSpPr>
          <p:cNvPr id="132" name="Google Shape;132;p15"/>
          <p:cNvSpPr txBox="1"/>
          <p:nvPr/>
        </p:nvSpPr>
        <p:spPr>
          <a:xfrm>
            <a:off x="1531425" y="981475"/>
            <a:ext cx="109947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Initial Ideas</a:t>
            </a:r>
            <a:endParaRPr/>
          </a:p>
        </p:txBody>
      </p:sp>
      <p:sp>
        <p:nvSpPr>
          <p:cNvPr id="133" name="Google Shape;133;p15"/>
          <p:cNvSpPr txBox="1"/>
          <p:nvPr/>
        </p:nvSpPr>
        <p:spPr>
          <a:xfrm>
            <a:off x="10330099" y="5367900"/>
            <a:ext cx="4828350" cy="18192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AI Meal Creator is an app that generates meal ideas from a photo of your fridge, using AI to detect ingredients and suggest recipes based on leftovers.</a:t>
            </a:r>
            <a:endParaRPr/>
          </a:p>
        </p:txBody>
      </p:sp>
      <p:sp>
        <p:nvSpPr>
          <p:cNvPr id="134" name="Google Shape;134;p15"/>
          <p:cNvSpPr txBox="1"/>
          <p:nvPr/>
        </p:nvSpPr>
        <p:spPr>
          <a:xfrm>
            <a:off x="3129551" y="5367900"/>
            <a:ext cx="4828350" cy="18192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AR Furniture Placer is a mobile app that lets users virtually place furniture in real space using augmented reality, helping them visualize layouts in real time.</a:t>
            </a:r>
            <a:endParaRPr/>
          </a:p>
        </p:txBody>
      </p:sp>
      <p:sp>
        <p:nvSpPr>
          <p:cNvPr id="135" name="Google Shape;135;p15"/>
          <p:cNvSpPr txBox="1"/>
          <p:nvPr/>
        </p:nvSpPr>
        <p:spPr>
          <a:xfrm>
            <a:off x="3129551" y="4584955"/>
            <a:ext cx="5042027"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AR Furniture Placer</a:t>
            </a:r>
            <a:endParaRPr/>
          </a:p>
        </p:txBody>
      </p:sp>
      <p:sp>
        <p:nvSpPr>
          <p:cNvPr id="136" name="Google Shape;136;p15"/>
          <p:cNvSpPr/>
          <p:nvPr/>
        </p:nvSpPr>
        <p:spPr>
          <a:xfrm>
            <a:off x="3038126" y="3221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137" name="Google Shape;137;p15"/>
          <p:cNvSpPr/>
          <p:nvPr/>
        </p:nvSpPr>
        <p:spPr>
          <a:xfrm>
            <a:off x="10238672"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138" name="Google Shape;138;p15"/>
          <p:cNvSpPr/>
          <p:nvPr/>
        </p:nvSpPr>
        <p:spPr>
          <a:xfrm>
            <a:off x="3209512" y="3518432"/>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139" name="Google Shape;139;p15"/>
          <p:cNvSpPr/>
          <p:nvPr/>
        </p:nvSpPr>
        <p:spPr>
          <a:xfrm>
            <a:off x="10412880" y="3395096"/>
            <a:ext cx="706360" cy="708214"/>
          </a:xfrm>
          <a:custGeom>
            <a:rect b="b" l="l" r="r" t="t"/>
            <a:pathLst>
              <a:path extrusionOk="0" h="708214" w="706360">
                <a:moveTo>
                  <a:pt x="0" y="0"/>
                </a:moveTo>
                <a:lnTo>
                  <a:pt x="706360" y="0"/>
                </a:lnTo>
                <a:lnTo>
                  <a:pt x="706360" y="708214"/>
                </a:lnTo>
                <a:lnTo>
                  <a:pt x="0" y="708214"/>
                </a:lnTo>
                <a:lnTo>
                  <a:pt x="0" y="0"/>
                </a:lnTo>
                <a:close/>
              </a:path>
            </a:pathLst>
          </a:custGeom>
          <a:blipFill rotWithShape="1">
            <a:blip r:embed="rId4">
              <a:alphaModFix/>
            </a:blip>
            <a:stretch>
              <a:fillRect b="0" l="0" r="0" t="0"/>
            </a:stretch>
          </a:blipFill>
          <a:ln>
            <a:noFill/>
          </a:ln>
        </p:spPr>
      </p:sp>
      <p:sp>
        <p:nvSpPr>
          <p:cNvPr id="140" name="Google Shape;140;p15"/>
          <p:cNvSpPr/>
          <p:nvPr/>
        </p:nvSpPr>
        <p:spPr>
          <a:xfrm>
            <a:off x="16120945" y="1070000"/>
            <a:ext cx="736854" cy="736949"/>
          </a:xfrm>
          <a:custGeom>
            <a:rect b="b" l="l" r="r" t="t"/>
            <a:pathLst>
              <a:path extrusionOk="0" h="982599" w="982472">
                <a:moveTo>
                  <a:pt x="491236" y="0"/>
                </a:moveTo>
                <a:cubicBezTo>
                  <a:pt x="491236" y="0"/>
                  <a:pt x="491109" y="0"/>
                  <a:pt x="491109" y="0"/>
                </a:cubicBezTo>
                <a:cubicBezTo>
                  <a:pt x="219837" y="0"/>
                  <a:pt x="0" y="219964"/>
                  <a:pt x="0" y="491236"/>
                </a:cubicBezTo>
                <a:cubicBezTo>
                  <a:pt x="0" y="762508"/>
                  <a:pt x="219837" y="982599"/>
                  <a:pt x="491109" y="982599"/>
                </a:cubicBezTo>
                <a:cubicBezTo>
                  <a:pt x="762508" y="982599"/>
                  <a:pt x="982472" y="762635"/>
                  <a:pt x="982472" y="491236"/>
                </a:cubicBezTo>
                <a:cubicBezTo>
                  <a:pt x="982472" y="219837"/>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16120945" y="1565045"/>
            <a:ext cx="736854" cy="736854"/>
          </a:xfrm>
          <a:custGeom>
            <a:rect b="b" l="l" r="r" t="t"/>
            <a:pathLst>
              <a:path extrusionOk="0" h="982472" w="982472">
                <a:moveTo>
                  <a:pt x="491109" y="0"/>
                </a:moveTo>
                <a:cubicBezTo>
                  <a:pt x="219837" y="0"/>
                  <a:pt x="0" y="219837"/>
                  <a:pt x="0" y="491236"/>
                </a:cubicBezTo>
                <a:cubicBezTo>
                  <a:pt x="0" y="762635"/>
                  <a:pt x="219837" y="982472"/>
                  <a:pt x="491109" y="982472"/>
                </a:cubicBezTo>
                <a:cubicBezTo>
                  <a:pt x="762508" y="982472"/>
                  <a:pt x="982472" y="762635"/>
                  <a:pt x="982472" y="491236"/>
                </a:cubicBezTo>
                <a:cubicBezTo>
                  <a:pt x="982472" y="219837"/>
                  <a:pt x="762508" y="0"/>
                  <a:pt x="491109"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16120945" y="2670950"/>
            <a:ext cx="736854" cy="736949"/>
          </a:xfrm>
          <a:custGeom>
            <a:rect b="b" l="l" r="r" t="t"/>
            <a:pathLst>
              <a:path extrusionOk="0" h="982599" w="982472">
                <a:moveTo>
                  <a:pt x="491236" y="0"/>
                </a:moveTo>
                <a:cubicBezTo>
                  <a:pt x="491236" y="0"/>
                  <a:pt x="491109" y="0"/>
                  <a:pt x="491109" y="0"/>
                </a:cubicBezTo>
                <a:cubicBezTo>
                  <a:pt x="219837" y="0"/>
                  <a:pt x="0" y="219964"/>
                  <a:pt x="0" y="491363"/>
                </a:cubicBezTo>
                <a:cubicBezTo>
                  <a:pt x="0" y="762762"/>
                  <a:pt x="219837" y="982599"/>
                  <a:pt x="491109" y="982599"/>
                </a:cubicBezTo>
                <a:cubicBezTo>
                  <a:pt x="762508" y="982599"/>
                  <a:pt x="982472" y="762635"/>
                  <a:pt x="982472" y="491363"/>
                </a:cubicBezTo>
                <a:cubicBezTo>
                  <a:pt x="982472" y="220091"/>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txBox="1"/>
          <p:nvPr/>
        </p:nvSpPr>
        <p:spPr>
          <a:xfrm>
            <a:off x="9235425" y="5534125"/>
            <a:ext cx="6454950" cy="3667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Final Ideas</a:t>
            </a:r>
            <a:endParaRPr/>
          </a:p>
        </p:txBody>
      </p:sp>
      <p:sp>
        <p:nvSpPr>
          <p:cNvPr id="153" name="Google Shape;153;p16"/>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02</a:t>
            </a:r>
            <a:endParaRPr/>
          </a:p>
        </p:txBody>
      </p:sp>
      <p:sp>
        <p:nvSpPr>
          <p:cNvPr id="154" name="Google Shape;154;p16"/>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155" name="Google Shape;155;p16"/>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156" name="Google Shape;156;p16"/>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157" name="Google Shape;157;p16"/>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158" name="Google Shape;158;p16"/>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159" name="Google Shape;159;p16"/>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
          <p:cNvSpPr txBox="1"/>
          <p:nvPr/>
        </p:nvSpPr>
        <p:spPr>
          <a:xfrm>
            <a:off x="2659425" y="5134075"/>
            <a:ext cx="129691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The Association</a:t>
            </a:r>
            <a:endParaRPr/>
          </a:p>
        </p:txBody>
      </p:sp>
      <p:sp>
        <p:nvSpPr>
          <p:cNvPr id="170" name="Google Shape;170;p17"/>
          <p:cNvSpPr/>
          <p:nvPr/>
        </p:nvSpPr>
        <p:spPr>
          <a:xfrm>
            <a:off x="5651264" y="489124"/>
            <a:ext cx="2325236" cy="2321608"/>
          </a:xfrm>
          <a:custGeom>
            <a:rect b="b" l="l" r="r" t="t"/>
            <a:pathLst>
              <a:path extrusionOk="0" h="2321608" w="2325236">
                <a:moveTo>
                  <a:pt x="0" y="0"/>
                </a:moveTo>
                <a:lnTo>
                  <a:pt x="2325236" y="0"/>
                </a:lnTo>
                <a:lnTo>
                  <a:pt x="2325236" y="2321608"/>
                </a:lnTo>
                <a:lnTo>
                  <a:pt x="0" y="2321608"/>
                </a:lnTo>
                <a:lnTo>
                  <a:pt x="0" y="0"/>
                </a:lnTo>
                <a:close/>
              </a:path>
            </a:pathLst>
          </a:custGeom>
          <a:blipFill rotWithShape="1">
            <a:blip r:embed="rId3">
              <a:alphaModFix/>
            </a:blip>
            <a:stretch>
              <a:fillRect b="0" l="0" r="0" t="0"/>
            </a:stretch>
          </a:blipFill>
          <a:ln>
            <a:noFill/>
          </a:ln>
        </p:spPr>
      </p:sp>
      <p:sp>
        <p:nvSpPr>
          <p:cNvPr id="171" name="Google Shape;171;p17"/>
          <p:cNvSpPr/>
          <p:nvPr/>
        </p:nvSpPr>
        <p:spPr>
          <a:xfrm>
            <a:off x="10301728" y="489102"/>
            <a:ext cx="2325210" cy="2321608"/>
          </a:xfrm>
          <a:custGeom>
            <a:rect b="b" l="l" r="r" t="t"/>
            <a:pathLst>
              <a:path extrusionOk="0" h="2321608" w="2325210">
                <a:moveTo>
                  <a:pt x="0" y="0"/>
                </a:moveTo>
                <a:lnTo>
                  <a:pt x="2325210" y="0"/>
                </a:lnTo>
                <a:lnTo>
                  <a:pt x="2325210" y="2321608"/>
                </a:lnTo>
                <a:lnTo>
                  <a:pt x="0" y="2321608"/>
                </a:lnTo>
                <a:lnTo>
                  <a:pt x="0" y="0"/>
                </a:lnTo>
                <a:close/>
              </a:path>
            </a:pathLst>
          </a:custGeom>
          <a:blipFill rotWithShape="1">
            <a:blip r:embed="rId4">
              <a:alphaModFix/>
            </a:blip>
            <a:stretch>
              <a:fillRect b="0" l="0" r="0" t="0"/>
            </a:stretch>
          </a:blipFill>
          <a:ln>
            <a:noFill/>
          </a:ln>
        </p:spPr>
      </p:sp>
      <p:sp>
        <p:nvSpPr>
          <p:cNvPr id="172" name="Google Shape;172;p17"/>
          <p:cNvSpPr/>
          <p:nvPr/>
        </p:nvSpPr>
        <p:spPr>
          <a:xfrm>
            <a:off x="7976450" y="489148"/>
            <a:ext cx="2325200" cy="2325054"/>
          </a:xfrm>
          <a:custGeom>
            <a:rect b="b" l="l" r="r" t="t"/>
            <a:pathLst>
              <a:path extrusionOk="0" h="2325054" w="2325200">
                <a:moveTo>
                  <a:pt x="0" y="0"/>
                </a:moveTo>
                <a:lnTo>
                  <a:pt x="2325200" y="0"/>
                </a:lnTo>
                <a:lnTo>
                  <a:pt x="2325200" y="2325054"/>
                </a:lnTo>
                <a:lnTo>
                  <a:pt x="0" y="2325054"/>
                </a:lnTo>
                <a:lnTo>
                  <a:pt x="0" y="0"/>
                </a:lnTo>
                <a:close/>
              </a:path>
            </a:pathLst>
          </a:custGeom>
          <a:blipFill rotWithShape="1">
            <a:blip r:embed="rId5">
              <a:alphaModFix/>
            </a:blip>
            <a:stretch>
              <a:fillRect b="0" l="0" r="0" t="0"/>
            </a:stretch>
          </a:blipFill>
          <a:ln>
            <a:noFill/>
          </a:ln>
        </p:spPr>
      </p:sp>
      <p:sp>
        <p:nvSpPr>
          <p:cNvPr id="173" name="Google Shape;173;p17"/>
          <p:cNvSpPr/>
          <p:nvPr/>
        </p:nvSpPr>
        <p:spPr>
          <a:xfrm>
            <a:off x="12626914" y="489148"/>
            <a:ext cx="2325200" cy="2325182"/>
          </a:xfrm>
          <a:custGeom>
            <a:rect b="b" l="l" r="r" t="t"/>
            <a:pathLst>
              <a:path extrusionOk="0" h="2325182" w="2325200">
                <a:moveTo>
                  <a:pt x="0" y="0"/>
                </a:moveTo>
                <a:lnTo>
                  <a:pt x="2325200" y="0"/>
                </a:lnTo>
                <a:lnTo>
                  <a:pt x="2325200" y="2325182"/>
                </a:lnTo>
                <a:lnTo>
                  <a:pt x="0" y="2325182"/>
                </a:lnTo>
                <a:lnTo>
                  <a:pt x="0" y="0"/>
                </a:lnTo>
                <a:close/>
              </a:path>
            </a:pathLst>
          </a:custGeom>
          <a:blipFill rotWithShape="1">
            <a:blip r:embed="rId6">
              <a:alphaModFix/>
            </a:blip>
            <a:stretch>
              <a:fillRect b="0" l="0" r="0" t="0"/>
            </a:stretch>
          </a:blipFill>
          <a:ln>
            <a:noFill/>
          </a:ln>
        </p:spPr>
      </p:sp>
      <p:sp>
        <p:nvSpPr>
          <p:cNvPr id="174" name="Google Shape;174;p17"/>
          <p:cNvSpPr/>
          <p:nvPr/>
        </p:nvSpPr>
        <p:spPr>
          <a:xfrm>
            <a:off x="1000734" y="489102"/>
            <a:ext cx="2325236" cy="2325054"/>
          </a:xfrm>
          <a:custGeom>
            <a:rect b="b" l="l" r="r" t="t"/>
            <a:pathLst>
              <a:path extrusionOk="0" h="2325054" w="2325236">
                <a:moveTo>
                  <a:pt x="0" y="0"/>
                </a:moveTo>
                <a:lnTo>
                  <a:pt x="2325236" y="0"/>
                </a:lnTo>
                <a:lnTo>
                  <a:pt x="2325236" y="2325054"/>
                </a:lnTo>
                <a:lnTo>
                  <a:pt x="0" y="2325054"/>
                </a:lnTo>
                <a:lnTo>
                  <a:pt x="0" y="0"/>
                </a:lnTo>
                <a:close/>
              </a:path>
            </a:pathLst>
          </a:custGeom>
          <a:blipFill rotWithShape="1">
            <a:blip r:embed="rId7">
              <a:alphaModFix/>
            </a:blip>
            <a:stretch>
              <a:fillRect b="0" l="0" r="0" t="0"/>
            </a:stretch>
          </a:blipFill>
          <a:ln>
            <a:noFill/>
          </a:ln>
        </p:spPr>
      </p:sp>
      <p:sp>
        <p:nvSpPr>
          <p:cNvPr id="175" name="Google Shape;175;p17"/>
          <p:cNvSpPr/>
          <p:nvPr/>
        </p:nvSpPr>
        <p:spPr>
          <a:xfrm>
            <a:off x="3326030" y="489102"/>
            <a:ext cx="2325200" cy="2325054"/>
          </a:xfrm>
          <a:custGeom>
            <a:rect b="b" l="l" r="r" t="t"/>
            <a:pathLst>
              <a:path extrusionOk="0" h="2325054" w="2325200">
                <a:moveTo>
                  <a:pt x="0" y="0"/>
                </a:moveTo>
                <a:lnTo>
                  <a:pt x="2325200" y="0"/>
                </a:lnTo>
                <a:lnTo>
                  <a:pt x="2325200" y="2325054"/>
                </a:lnTo>
                <a:lnTo>
                  <a:pt x="0" y="2325054"/>
                </a:lnTo>
                <a:lnTo>
                  <a:pt x="0" y="0"/>
                </a:lnTo>
                <a:close/>
              </a:path>
            </a:pathLst>
          </a:custGeom>
          <a:blipFill rotWithShape="1">
            <a:blip r:embed="rId8">
              <a:alphaModFix/>
            </a:blip>
            <a:stretch>
              <a:fillRect b="0" l="0" r="0" t="0"/>
            </a:stretch>
          </a:blipFill>
          <a:ln>
            <a:noFill/>
          </a:ln>
        </p:spPr>
      </p:sp>
      <p:sp>
        <p:nvSpPr>
          <p:cNvPr id="176" name="Google Shape;176;p17"/>
          <p:cNvSpPr/>
          <p:nvPr/>
        </p:nvSpPr>
        <p:spPr>
          <a:xfrm>
            <a:off x="14952212" y="489188"/>
            <a:ext cx="2325200" cy="2325054"/>
          </a:xfrm>
          <a:custGeom>
            <a:rect b="b" l="l" r="r" t="t"/>
            <a:pathLst>
              <a:path extrusionOk="0" h="2325054" w="2325200">
                <a:moveTo>
                  <a:pt x="0" y="0"/>
                </a:moveTo>
                <a:lnTo>
                  <a:pt x="2325200" y="0"/>
                </a:lnTo>
                <a:lnTo>
                  <a:pt x="2325200" y="2325054"/>
                </a:lnTo>
                <a:lnTo>
                  <a:pt x="0" y="2325054"/>
                </a:lnTo>
                <a:lnTo>
                  <a:pt x="0" y="0"/>
                </a:lnTo>
                <a:close/>
              </a:path>
            </a:pathLst>
          </a:custGeom>
          <a:blipFill rotWithShape="1">
            <a:blip r:embed="rId9">
              <a:alphaModFix/>
            </a:blip>
            <a:stretch>
              <a:fillRect b="0" l="0" r="0" t="0"/>
            </a:stretch>
          </a:blipFill>
          <a:ln>
            <a:noFill/>
          </a:ln>
        </p:spPr>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
          <p:cNvSpPr/>
          <p:nvPr/>
        </p:nvSpPr>
        <p:spPr>
          <a:xfrm>
            <a:off x="1003146" y="486622"/>
            <a:ext cx="3104532" cy="3099632"/>
          </a:xfrm>
          <a:custGeom>
            <a:rect b="b" l="l" r="r" t="t"/>
            <a:pathLst>
              <a:path extrusionOk="0" h="3099632" w="3104532">
                <a:moveTo>
                  <a:pt x="0" y="0"/>
                </a:moveTo>
                <a:lnTo>
                  <a:pt x="3104532" y="0"/>
                </a:lnTo>
                <a:lnTo>
                  <a:pt x="3104532" y="3099632"/>
                </a:lnTo>
                <a:lnTo>
                  <a:pt x="0" y="3099632"/>
                </a:lnTo>
                <a:lnTo>
                  <a:pt x="0" y="0"/>
                </a:lnTo>
                <a:close/>
              </a:path>
            </a:pathLst>
          </a:custGeom>
          <a:blipFill rotWithShape="1">
            <a:blip r:embed="rId3">
              <a:alphaModFix/>
            </a:blip>
            <a:stretch>
              <a:fillRect b="0" l="0" r="0" t="0"/>
            </a:stretch>
          </a:blipFill>
          <a:ln>
            <a:noFill/>
          </a:ln>
        </p:spPr>
      </p:sp>
      <p:sp>
        <p:nvSpPr>
          <p:cNvPr id="187" name="Google Shape;187;p18"/>
          <p:cNvSpPr/>
          <p:nvPr/>
        </p:nvSpPr>
        <p:spPr>
          <a:xfrm>
            <a:off x="1003148" y="6693146"/>
            <a:ext cx="3104532" cy="3099632"/>
          </a:xfrm>
          <a:custGeom>
            <a:rect b="b" l="l" r="r" t="t"/>
            <a:pathLst>
              <a:path extrusionOk="0" h="3099632" w="3104532">
                <a:moveTo>
                  <a:pt x="0" y="0"/>
                </a:moveTo>
                <a:lnTo>
                  <a:pt x="3104532" y="0"/>
                </a:lnTo>
                <a:lnTo>
                  <a:pt x="3104532" y="3099632"/>
                </a:lnTo>
                <a:lnTo>
                  <a:pt x="0" y="3099632"/>
                </a:lnTo>
                <a:lnTo>
                  <a:pt x="0" y="0"/>
                </a:lnTo>
                <a:close/>
              </a:path>
            </a:pathLst>
          </a:custGeom>
          <a:blipFill rotWithShape="1">
            <a:blip r:embed="rId4">
              <a:alphaModFix/>
            </a:blip>
            <a:stretch>
              <a:fillRect b="0" l="0" r="0" t="0"/>
            </a:stretch>
          </a:blipFill>
          <a:ln>
            <a:noFill/>
          </a:ln>
        </p:spPr>
      </p:sp>
      <p:sp>
        <p:nvSpPr>
          <p:cNvPr id="188" name="Google Shape;188;p18"/>
          <p:cNvSpPr/>
          <p:nvPr/>
        </p:nvSpPr>
        <p:spPr>
          <a:xfrm>
            <a:off x="4107698" y="3588694"/>
            <a:ext cx="3104544" cy="3099632"/>
          </a:xfrm>
          <a:custGeom>
            <a:rect b="b" l="l" r="r" t="t"/>
            <a:pathLst>
              <a:path extrusionOk="0" h="3099632" w="3104544">
                <a:moveTo>
                  <a:pt x="0" y="0"/>
                </a:moveTo>
                <a:lnTo>
                  <a:pt x="3104544" y="0"/>
                </a:lnTo>
                <a:lnTo>
                  <a:pt x="3104544" y="3099632"/>
                </a:lnTo>
                <a:lnTo>
                  <a:pt x="0" y="3099632"/>
                </a:lnTo>
                <a:lnTo>
                  <a:pt x="0" y="0"/>
                </a:lnTo>
                <a:close/>
              </a:path>
            </a:pathLst>
          </a:custGeom>
          <a:blipFill rotWithShape="1">
            <a:blip r:embed="rId5">
              <a:alphaModFix/>
            </a:blip>
            <a:stretch>
              <a:fillRect b="0" l="0" r="0" t="0"/>
            </a:stretch>
          </a:blipFill>
          <a:ln>
            <a:noFill/>
          </a:ln>
        </p:spPr>
      </p:sp>
      <p:sp>
        <p:nvSpPr>
          <p:cNvPr id="189" name="Google Shape;189;p18"/>
          <p:cNvSpPr/>
          <p:nvPr/>
        </p:nvSpPr>
        <p:spPr>
          <a:xfrm>
            <a:off x="4061598" y="486648"/>
            <a:ext cx="3196648" cy="3099632"/>
          </a:xfrm>
          <a:custGeom>
            <a:rect b="b" l="l" r="r" t="t"/>
            <a:pathLst>
              <a:path extrusionOk="0" h="3099632" w="3196648">
                <a:moveTo>
                  <a:pt x="0" y="0"/>
                </a:moveTo>
                <a:lnTo>
                  <a:pt x="3196648" y="0"/>
                </a:lnTo>
                <a:lnTo>
                  <a:pt x="3196648" y="3099632"/>
                </a:lnTo>
                <a:lnTo>
                  <a:pt x="0" y="3099632"/>
                </a:lnTo>
                <a:lnTo>
                  <a:pt x="0" y="0"/>
                </a:lnTo>
                <a:close/>
              </a:path>
            </a:pathLst>
          </a:custGeom>
          <a:blipFill rotWithShape="1">
            <a:blip r:embed="rId6">
              <a:alphaModFix/>
            </a:blip>
            <a:stretch>
              <a:fillRect b="0" l="0" r="0" t="0"/>
            </a:stretch>
          </a:blipFill>
          <a:ln>
            <a:noFill/>
          </a:ln>
        </p:spPr>
      </p:sp>
      <p:sp>
        <p:nvSpPr>
          <p:cNvPr id="190" name="Google Shape;190;p18"/>
          <p:cNvSpPr/>
          <p:nvPr/>
        </p:nvSpPr>
        <p:spPr>
          <a:xfrm>
            <a:off x="1003152" y="3586364"/>
            <a:ext cx="3104506" cy="3104402"/>
          </a:xfrm>
          <a:custGeom>
            <a:rect b="b" l="l" r="r" t="t"/>
            <a:pathLst>
              <a:path extrusionOk="0" h="3104402" w="3104506">
                <a:moveTo>
                  <a:pt x="0" y="0"/>
                </a:moveTo>
                <a:lnTo>
                  <a:pt x="3104506" y="0"/>
                </a:lnTo>
                <a:lnTo>
                  <a:pt x="3104506" y="3104402"/>
                </a:lnTo>
                <a:lnTo>
                  <a:pt x="0" y="3104402"/>
                </a:lnTo>
                <a:lnTo>
                  <a:pt x="0" y="0"/>
                </a:lnTo>
                <a:close/>
              </a:path>
            </a:pathLst>
          </a:custGeom>
          <a:blipFill rotWithShape="1">
            <a:blip r:embed="rId7">
              <a:alphaModFix/>
            </a:blip>
            <a:stretch>
              <a:fillRect b="0" l="0" r="0" t="0"/>
            </a:stretch>
          </a:blipFill>
          <a:ln>
            <a:noFill/>
          </a:ln>
        </p:spPr>
      </p:sp>
      <p:sp>
        <p:nvSpPr>
          <p:cNvPr id="191" name="Google Shape;191;p18"/>
          <p:cNvSpPr/>
          <p:nvPr/>
        </p:nvSpPr>
        <p:spPr>
          <a:xfrm>
            <a:off x="4107640" y="6690724"/>
            <a:ext cx="3104506" cy="3104402"/>
          </a:xfrm>
          <a:custGeom>
            <a:rect b="b" l="l" r="r" t="t"/>
            <a:pathLst>
              <a:path extrusionOk="0" h="3104402" w="3104506">
                <a:moveTo>
                  <a:pt x="0" y="0"/>
                </a:moveTo>
                <a:lnTo>
                  <a:pt x="3104506" y="0"/>
                </a:lnTo>
                <a:lnTo>
                  <a:pt x="3104506" y="3104402"/>
                </a:lnTo>
                <a:lnTo>
                  <a:pt x="0" y="3104402"/>
                </a:lnTo>
                <a:lnTo>
                  <a:pt x="0" y="0"/>
                </a:lnTo>
                <a:close/>
              </a:path>
            </a:pathLst>
          </a:custGeom>
          <a:blipFill rotWithShape="1">
            <a:blip r:embed="rId8">
              <a:alphaModFix/>
            </a:blip>
            <a:stretch>
              <a:fillRect b="0" l="0" r="0" t="0"/>
            </a:stretch>
          </a:blipFill>
          <a:ln>
            <a:noFill/>
          </a:ln>
        </p:spPr>
      </p:sp>
      <p:sp>
        <p:nvSpPr>
          <p:cNvPr id="192" name="Google Shape;192;p18"/>
          <p:cNvSpPr/>
          <p:nvPr/>
        </p:nvSpPr>
        <p:spPr>
          <a:xfrm>
            <a:off x="7748105" y="2036438"/>
            <a:ext cx="9157056" cy="5757499"/>
          </a:xfrm>
          <a:custGeom>
            <a:rect b="b" l="l" r="r" t="t"/>
            <a:pathLst>
              <a:path extrusionOk="0" h="5757499" w="9157056">
                <a:moveTo>
                  <a:pt x="0" y="0"/>
                </a:moveTo>
                <a:lnTo>
                  <a:pt x="9157057" y="0"/>
                </a:lnTo>
                <a:lnTo>
                  <a:pt x="9157057" y="5757499"/>
                </a:lnTo>
                <a:lnTo>
                  <a:pt x="0" y="5757499"/>
                </a:lnTo>
                <a:lnTo>
                  <a:pt x="0" y="0"/>
                </a:lnTo>
                <a:close/>
              </a:path>
            </a:pathLst>
          </a:custGeom>
          <a:blipFill rotWithShape="1">
            <a:blip r:embed="rId9">
              <a:alphaModFix/>
            </a:blip>
            <a:stretch>
              <a:fillRect b="0" l="0" r="0" t="0"/>
            </a:stretch>
          </a:blipFill>
          <a:ln>
            <a:noFill/>
          </a:ln>
        </p:spPr>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9"/>
          <p:cNvSpPr/>
          <p:nvPr/>
        </p:nvSpPr>
        <p:spPr>
          <a:xfrm>
            <a:off x="1000348" y="9217365"/>
            <a:ext cx="1139095" cy="559118"/>
          </a:xfrm>
          <a:custGeom>
            <a:rect b="b" l="l" r="r" t="t"/>
            <a:pathLst>
              <a:path extrusionOk="0" h="745490" w="1518793">
                <a:moveTo>
                  <a:pt x="759841" y="0"/>
                </a:moveTo>
                <a:cubicBezTo>
                  <a:pt x="344170" y="0"/>
                  <a:pt x="7239" y="333248"/>
                  <a:pt x="0" y="745490"/>
                </a:cubicBezTo>
                <a:lnTo>
                  <a:pt x="1518793" y="745490"/>
                </a:lnTo>
                <a:cubicBezTo>
                  <a:pt x="1511554" y="333248"/>
                  <a:pt x="1174623" y="0"/>
                  <a:pt x="759841"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1732619" y="9217365"/>
            <a:ext cx="1138714" cy="559118"/>
          </a:xfrm>
          <a:custGeom>
            <a:rect b="b" l="l" r="r" t="t"/>
            <a:pathLst>
              <a:path extrusionOk="0" h="745490" w="1518285">
                <a:moveTo>
                  <a:pt x="758952" y="0"/>
                </a:moveTo>
                <a:cubicBezTo>
                  <a:pt x="343662" y="0"/>
                  <a:pt x="6731" y="333248"/>
                  <a:pt x="0" y="745490"/>
                </a:cubicBezTo>
                <a:lnTo>
                  <a:pt x="1518285" y="745490"/>
                </a:lnTo>
                <a:cubicBezTo>
                  <a:pt x="1511046" y="333248"/>
                  <a:pt x="1174623" y="0"/>
                  <a:pt x="758952"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2399061" y="9217365"/>
            <a:ext cx="1138714" cy="559118"/>
          </a:xfrm>
          <a:custGeom>
            <a:rect b="b" l="l" r="r" t="t"/>
            <a:pathLst>
              <a:path extrusionOk="0" h="745490" w="1518285">
                <a:moveTo>
                  <a:pt x="758952" y="0"/>
                </a:moveTo>
                <a:cubicBezTo>
                  <a:pt x="343662" y="0"/>
                  <a:pt x="7239" y="333248"/>
                  <a:pt x="0" y="745490"/>
                </a:cubicBezTo>
                <a:lnTo>
                  <a:pt x="1518285" y="745490"/>
                </a:lnTo>
                <a:cubicBezTo>
                  <a:pt x="1511554" y="333248"/>
                  <a:pt x="1174623" y="0"/>
                  <a:pt x="758952"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txBox="1"/>
          <p:nvPr/>
        </p:nvSpPr>
        <p:spPr>
          <a:xfrm>
            <a:off x="10330097" y="4584955"/>
            <a:ext cx="48283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PDF/UA</a:t>
            </a:r>
            <a:endParaRPr/>
          </a:p>
        </p:txBody>
      </p:sp>
      <p:sp>
        <p:nvSpPr>
          <p:cNvPr id="206" name="Google Shape;206;p19"/>
          <p:cNvSpPr txBox="1"/>
          <p:nvPr/>
        </p:nvSpPr>
        <p:spPr>
          <a:xfrm>
            <a:off x="1531425" y="981475"/>
            <a:ext cx="109945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Laws</a:t>
            </a:r>
            <a:endParaRPr/>
          </a:p>
        </p:txBody>
      </p:sp>
      <p:sp>
        <p:nvSpPr>
          <p:cNvPr id="207" name="Google Shape;207;p19"/>
          <p:cNvSpPr txBox="1"/>
          <p:nvPr/>
        </p:nvSpPr>
        <p:spPr>
          <a:xfrm>
            <a:off x="10330099" y="5367900"/>
            <a:ext cx="4828350" cy="32670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An ISO standard (ISO 14289) that defines how to make PDF documents accessible to people with disabilities. It includes technical requirements for tagging, reading order, alternative text for images, and interactive elements to ensure compatibility with assistive technologies.</a:t>
            </a:r>
            <a:endParaRPr/>
          </a:p>
        </p:txBody>
      </p:sp>
      <p:sp>
        <p:nvSpPr>
          <p:cNvPr id="208" name="Google Shape;208;p19"/>
          <p:cNvSpPr txBox="1"/>
          <p:nvPr/>
        </p:nvSpPr>
        <p:spPr>
          <a:xfrm>
            <a:off x="3129551" y="5367900"/>
            <a:ext cx="4828350" cy="29051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 set of guidelines developed by the W3C to make web content more accessible to people with disabilities. WCAG outlines how to make digital content perceivable, operable, understandable, and robust — including for screen readers and keyboard navigation.</a:t>
            </a:r>
            <a:endParaRPr/>
          </a:p>
        </p:txBody>
      </p:sp>
      <p:sp>
        <p:nvSpPr>
          <p:cNvPr id="209" name="Google Shape;209;p19"/>
          <p:cNvSpPr txBox="1"/>
          <p:nvPr/>
        </p:nvSpPr>
        <p:spPr>
          <a:xfrm>
            <a:off x="3129551" y="4584955"/>
            <a:ext cx="5042027"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WCAG</a:t>
            </a:r>
            <a:endParaRPr/>
          </a:p>
        </p:txBody>
      </p:sp>
      <p:sp>
        <p:nvSpPr>
          <p:cNvPr id="210" name="Google Shape;210;p19"/>
          <p:cNvSpPr/>
          <p:nvPr/>
        </p:nvSpPr>
        <p:spPr>
          <a:xfrm>
            <a:off x="3038126" y="3221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211" name="Google Shape;211;p19"/>
          <p:cNvSpPr/>
          <p:nvPr/>
        </p:nvSpPr>
        <p:spPr>
          <a:xfrm>
            <a:off x="10238672"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212" name="Google Shape;212;p19"/>
          <p:cNvSpPr/>
          <p:nvPr/>
        </p:nvSpPr>
        <p:spPr>
          <a:xfrm>
            <a:off x="3209512" y="3518432"/>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213" name="Google Shape;213;p19"/>
          <p:cNvSpPr/>
          <p:nvPr/>
        </p:nvSpPr>
        <p:spPr>
          <a:xfrm>
            <a:off x="10412880" y="3395096"/>
            <a:ext cx="706360" cy="708214"/>
          </a:xfrm>
          <a:custGeom>
            <a:rect b="b" l="l" r="r" t="t"/>
            <a:pathLst>
              <a:path extrusionOk="0" h="708214" w="706360">
                <a:moveTo>
                  <a:pt x="0" y="0"/>
                </a:moveTo>
                <a:lnTo>
                  <a:pt x="706360" y="0"/>
                </a:lnTo>
                <a:lnTo>
                  <a:pt x="706360" y="708214"/>
                </a:lnTo>
                <a:lnTo>
                  <a:pt x="0" y="708214"/>
                </a:lnTo>
                <a:lnTo>
                  <a:pt x="0" y="0"/>
                </a:lnTo>
                <a:close/>
              </a:path>
            </a:pathLst>
          </a:custGeom>
          <a:blipFill rotWithShape="1">
            <a:blip r:embed="rId4">
              <a:alphaModFix/>
            </a:blip>
            <a:stretch>
              <a:fillRect b="0" l="0" r="0" t="0"/>
            </a:stretch>
          </a:blipFill>
          <a:ln>
            <a:noFill/>
          </a:ln>
        </p:spPr>
      </p:sp>
      <p:sp>
        <p:nvSpPr>
          <p:cNvPr id="214" name="Google Shape;214;p19"/>
          <p:cNvSpPr/>
          <p:nvPr/>
        </p:nvSpPr>
        <p:spPr>
          <a:xfrm>
            <a:off x="16120945" y="1070000"/>
            <a:ext cx="736854" cy="736949"/>
          </a:xfrm>
          <a:custGeom>
            <a:rect b="b" l="l" r="r" t="t"/>
            <a:pathLst>
              <a:path extrusionOk="0" h="982599" w="982472">
                <a:moveTo>
                  <a:pt x="491236" y="0"/>
                </a:moveTo>
                <a:cubicBezTo>
                  <a:pt x="491236" y="0"/>
                  <a:pt x="491109" y="0"/>
                  <a:pt x="491109" y="0"/>
                </a:cubicBezTo>
                <a:cubicBezTo>
                  <a:pt x="219837" y="0"/>
                  <a:pt x="0" y="219964"/>
                  <a:pt x="0" y="491236"/>
                </a:cubicBezTo>
                <a:cubicBezTo>
                  <a:pt x="0" y="762508"/>
                  <a:pt x="219837" y="982599"/>
                  <a:pt x="491109" y="982599"/>
                </a:cubicBezTo>
                <a:cubicBezTo>
                  <a:pt x="762508" y="982599"/>
                  <a:pt x="982472" y="762635"/>
                  <a:pt x="982472" y="491236"/>
                </a:cubicBezTo>
                <a:cubicBezTo>
                  <a:pt x="982472" y="219837"/>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
          <p:cNvSpPr/>
          <p:nvPr/>
        </p:nvSpPr>
        <p:spPr>
          <a:xfrm>
            <a:off x="16120945" y="1565045"/>
            <a:ext cx="736854" cy="736854"/>
          </a:xfrm>
          <a:custGeom>
            <a:rect b="b" l="l" r="r" t="t"/>
            <a:pathLst>
              <a:path extrusionOk="0" h="982472" w="982472">
                <a:moveTo>
                  <a:pt x="491109" y="0"/>
                </a:moveTo>
                <a:cubicBezTo>
                  <a:pt x="219837" y="0"/>
                  <a:pt x="0" y="219837"/>
                  <a:pt x="0" y="491236"/>
                </a:cubicBezTo>
                <a:cubicBezTo>
                  <a:pt x="0" y="762635"/>
                  <a:pt x="219837" y="982472"/>
                  <a:pt x="491109" y="982472"/>
                </a:cubicBezTo>
                <a:cubicBezTo>
                  <a:pt x="762508" y="982472"/>
                  <a:pt x="982472" y="762635"/>
                  <a:pt x="982472" y="491236"/>
                </a:cubicBezTo>
                <a:cubicBezTo>
                  <a:pt x="982472" y="219837"/>
                  <a:pt x="762508" y="0"/>
                  <a:pt x="491109"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9"/>
          <p:cNvSpPr/>
          <p:nvPr/>
        </p:nvSpPr>
        <p:spPr>
          <a:xfrm>
            <a:off x="16120945" y="2670950"/>
            <a:ext cx="736854" cy="736949"/>
          </a:xfrm>
          <a:custGeom>
            <a:rect b="b" l="l" r="r" t="t"/>
            <a:pathLst>
              <a:path extrusionOk="0" h="982599" w="982472">
                <a:moveTo>
                  <a:pt x="491236" y="0"/>
                </a:moveTo>
                <a:cubicBezTo>
                  <a:pt x="491236" y="0"/>
                  <a:pt x="491109" y="0"/>
                  <a:pt x="491109" y="0"/>
                </a:cubicBezTo>
                <a:cubicBezTo>
                  <a:pt x="219837" y="0"/>
                  <a:pt x="0" y="219964"/>
                  <a:pt x="0" y="491363"/>
                </a:cubicBezTo>
                <a:cubicBezTo>
                  <a:pt x="0" y="762762"/>
                  <a:pt x="219837" y="982599"/>
                  <a:pt x="491109" y="982599"/>
                </a:cubicBezTo>
                <a:cubicBezTo>
                  <a:pt x="762508" y="982599"/>
                  <a:pt x="982472" y="762635"/>
                  <a:pt x="982472" y="491363"/>
                </a:cubicBezTo>
                <a:cubicBezTo>
                  <a:pt x="982472" y="220091"/>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0"/>
          <p:cNvSpPr/>
          <p:nvPr/>
        </p:nvSpPr>
        <p:spPr>
          <a:xfrm>
            <a:off x="992891" y="8765041"/>
            <a:ext cx="1823770" cy="1029488"/>
          </a:xfrm>
          <a:custGeom>
            <a:rect b="b" l="l" r="r" t="t"/>
            <a:pathLst>
              <a:path extrusionOk="0" h="1029488" w="1823770">
                <a:moveTo>
                  <a:pt x="0" y="0"/>
                </a:moveTo>
                <a:lnTo>
                  <a:pt x="1823770" y="0"/>
                </a:lnTo>
                <a:lnTo>
                  <a:pt x="1823770" y="1029488"/>
                </a:lnTo>
                <a:lnTo>
                  <a:pt x="0" y="1029488"/>
                </a:lnTo>
                <a:lnTo>
                  <a:pt x="0" y="0"/>
                </a:lnTo>
                <a:close/>
              </a:path>
            </a:pathLst>
          </a:custGeom>
          <a:blipFill rotWithShape="1">
            <a:blip r:embed="rId3">
              <a:alphaModFix/>
            </a:blip>
            <a:stretch>
              <a:fillRect b="0" l="0" r="0" t="0"/>
            </a:stretch>
          </a:blipFill>
          <a:ln>
            <a:noFill/>
          </a:ln>
        </p:spPr>
      </p:sp>
      <p:sp>
        <p:nvSpPr>
          <p:cNvPr id="227" name="Google Shape;227;p20"/>
          <p:cNvSpPr/>
          <p:nvPr/>
        </p:nvSpPr>
        <p:spPr>
          <a:xfrm rot="5400000">
            <a:off x="16645528" y="497845"/>
            <a:ext cx="629221" cy="629222"/>
          </a:xfrm>
          <a:custGeom>
            <a:rect b="b" l="l" r="r" t="t"/>
            <a:pathLst>
              <a:path extrusionOk="0" h="838962" w="838962">
                <a:moveTo>
                  <a:pt x="0" y="0"/>
                </a:moveTo>
                <a:lnTo>
                  <a:pt x="0" y="334645"/>
                </a:lnTo>
                <a:cubicBezTo>
                  <a:pt x="0" y="613156"/>
                  <a:pt x="225679" y="838962"/>
                  <a:pt x="504317" y="838962"/>
                </a:cubicBezTo>
                <a:lnTo>
                  <a:pt x="838962" y="838962"/>
                </a:lnTo>
                <a:lnTo>
                  <a:pt x="838962" y="504317"/>
                </a:lnTo>
                <a:cubicBezTo>
                  <a:pt x="838962" y="225806"/>
                  <a:pt x="613156" y="0"/>
                  <a:pt x="334645"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rot="5400000">
            <a:off x="16016284" y="497846"/>
            <a:ext cx="629221" cy="629222"/>
          </a:xfrm>
          <a:custGeom>
            <a:rect b="b" l="l" r="r" t="t"/>
            <a:pathLst>
              <a:path extrusionOk="0" h="838962" w="838962">
                <a:moveTo>
                  <a:pt x="504190" y="0"/>
                </a:moveTo>
                <a:cubicBezTo>
                  <a:pt x="225679" y="0"/>
                  <a:pt x="0" y="225679"/>
                  <a:pt x="0" y="504190"/>
                </a:cubicBezTo>
                <a:lnTo>
                  <a:pt x="0" y="838962"/>
                </a:lnTo>
                <a:lnTo>
                  <a:pt x="334645" y="838962"/>
                </a:lnTo>
                <a:cubicBezTo>
                  <a:pt x="613156" y="838962"/>
                  <a:pt x="838962" y="613156"/>
                  <a:pt x="838962" y="334645"/>
                </a:cubicBezTo>
                <a:lnTo>
                  <a:pt x="838962" y="0"/>
                </a:ln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p:nvPr/>
        </p:nvSpPr>
        <p:spPr>
          <a:xfrm rot="5400000">
            <a:off x="15387028" y="497750"/>
            <a:ext cx="629221" cy="629222"/>
          </a:xfrm>
          <a:custGeom>
            <a:rect b="b" l="l" r="r" t="t"/>
            <a:pathLst>
              <a:path extrusionOk="0" h="838962" w="838962">
                <a:moveTo>
                  <a:pt x="838962" y="0"/>
                </a:moveTo>
                <a:lnTo>
                  <a:pt x="838962" y="334645"/>
                </a:lnTo>
                <a:cubicBezTo>
                  <a:pt x="838962" y="613156"/>
                  <a:pt x="613283" y="838962"/>
                  <a:pt x="334645" y="838962"/>
                </a:cubicBezTo>
                <a:lnTo>
                  <a:pt x="0" y="838962"/>
                </a:lnTo>
                <a:lnTo>
                  <a:pt x="0" y="504317"/>
                </a:lnTo>
                <a:cubicBezTo>
                  <a:pt x="0" y="225806"/>
                  <a:pt x="225806" y="0"/>
                  <a:pt x="504317"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rot="5400000">
            <a:off x="14757687" y="497798"/>
            <a:ext cx="629316" cy="629222"/>
          </a:xfrm>
          <a:custGeom>
            <a:rect b="b" l="l" r="r" t="t"/>
            <a:pathLst>
              <a:path extrusionOk="0" h="838962" w="839089">
                <a:moveTo>
                  <a:pt x="334772" y="0"/>
                </a:moveTo>
                <a:cubicBezTo>
                  <a:pt x="613283" y="0"/>
                  <a:pt x="839089" y="225806"/>
                  <a:pt x="839089" y="504317"/>
                </a:cubicBezTo>
                <a:lnTo>
                  <a:pt x="839089" y="838962"/>
                </a:lnTo>
                <a:lnTo>
                  <a:pt x="504317" y="838962"/>
                </a:lnTo>
                <a:cubicBezTo>
                  <a:pt x="225806" y="838962"/>
                  <a:pt x="0" y="613156"/>
                  <a:pt x="0" y="334645"/>
                </a:cubicBezTo>
                <a:lnTo>
                  <a:pt x="0" y="0"/>
                </a:ln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txBox="1"/>
          <p:nvPr/>
        </p:nvSpPr>
        <p:spPr>
          <a:xfrm>
            <a:off x="3149027" y="3746650"/>
            <a:ext cx="5751150" cy="18192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Headers should follow a logical, hierarchical structure (e.g., H1, H2, H3) to help screen readers and users navigate the document easily. Headers should not be treated as body text.</a:t>
            </a:r>
            <a:endParaRPr/>
          </a:p>
        </p:txBody>
      </p:sp>
      <p:sp>
        <p:nvSpPr>
          <p:cNvPr id="232" name="Google Shape;232;p20"/>
          <p:cNvSpPr txBox="1"/>
          <p:nvPr/>
        </p:nvSpPr>
        <p:spPr>
          <a:xfrm>
            <a:off x="10604829" y="3746650"/>
            <a:ext cx="5751150" cy="14573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The content must be arranged in a logical reading order so assistive technologies present information in the correct sequence.</a:t>
            </a:r>
            <a:endParaRPr/>
          </a:p>
        </p:txBody>
      </p:sp>
      <p:sp>
        <p:nvSpPr>
          <p:cNvPr id="233" name="Google Shape;233;p20"/>
          <p:cNvSpPr txBox="1"/>
          <p:nvPr/>
        </p:nvSpPr>
        <p:spPr>
          <a:xfrm>
            <a:off x="3149027" y="6945766"/>
            <a:ext cx="5751150" cy="18192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All informative PDF images need alt text. Explanatory images must be read by screen readers, while demonstrative ones can be skipped to focus on key information.</a:t>
            </a:r>
            <a:endParaRPr/>
          </a:p>
        </p:txBody>
      </p:sp>
      <p:sp>
        <p:nvSpPr>
          <p:cNvPr id="234" name="Google Shape;234;p20"/>
          <p:cNvSpPr txBox="1"/>
          <p:nvPr/>
        </p:nvSpPr>
        <p:spPr>
          <a:xfrm>
            <a:off x="10604829" y="6860500"/>
            <a:ext cx="5751150" cy="14573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Ensures clear distinction between text and background colors, improving readability for users with visual impairments and meeting accessibility standards.</a:t>
            </a:r>
            <a:endParaRPr/>
          </a:p>
        </p:txBody>
      </p:sp>
      <p:sp>
        <p:nvSpPr>
          <p:cNvPr id="235" name="Google Shape;235;p20"/>
          <p:cNvSpPr txBox="1"/>
          <p:nvPr/>
        </p:nvSpPr>
        <p:spPr>
          <a:xfrm>
            <a:off x="1531425" y="981475"/>
            <a:ext cx="152251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What’s In The Scope</a:t>
            </a:r>
            <a:endParaRPr/>
          </a:p>
        </p:txBody>
      </p:sp>
      <p:sp>
        <p:nvSpPr>
          <p:cNvPr id="236" name="Google Shape;236;p20"/>
          <p:cNvSpPr txBox="1"/>
          <p:nvPr/>
        </p:nvSpPr>
        <p:spPr>
          <a:xfrm>
            <a:off x="3149025" y="296372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Header Placement</a:t>
            </a:r>
            <a:endParaRPr/>
          </a:p>
        </p:txBody>
      </p:sp>
      <p:sp>
        <p:nvSpPr>
          <p:cNvPr id="237" name="Google Shape;237;p20"/>
          <p:cNvSpPr txBox="1"/>
          <p:nvPr/>
        </p:nvSpPr>
        <p:spPr>
          <a:xfrm>
            <a:off x="3149025" y="607757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Image Description</a:t>
            </a:r>
            <a:endParaRPr/>
          </a:p>
        </p:txBody>
      </p:sp>
      <p:sp>
        <p:nvSpPr>
          <p:cNvPr id="238" name="Google Shape;238;p20"/>
          <p:cNvSpPr txBox="1"/>
          <p:nvPr/>
        </p:nvSpPr>
        <p:spPr>
          <a:xfrm>
            <a:off x="10604825" y="296372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Reading Order</a:t>
            </a:r>
            <a:endParaRPr/>
          </a:p>
        </p:txBody>
      </p:sp>
      <p:sp>
        <p:nvSpPr>
          <p:cNvPr id="239" name="Google Shape;239;p20"/>
          <p:cNvSpPr txBox="1"/>
          <p:nvPr/>
        </p:nvSpPr>
        <p:spPr>
          <a:xfrm>
            <a:off x="10604825" y="607757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Contrast</a:t>
            </a:r>
            <a:endParaRPr/>
          </a:p>
        </p:txBody>
      </p:sp>
      <p:sp>
        <p:nvSpPr>
          <p:cNvPr id="240" name="Google Shape;240;p20"/>
          <p:cNvSpPr/>
          <p:nvPr/>
        </p:nvSpPr>
        <p:spPr>
          <a:xfrm>
            <a:off x="1850376" y="2609950"/>
            <a:ext cx="1054798"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241" name="Google Shape;241;p20"/>
          <p:cNvSpPr/>
          <p:nvPr/>
        </p:nvSpPr>
        <p:spPr>
          <a:xfrm>
            <a:off x="9306176" y="2609950"/>
            <a:ext cx="1054799"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242" name="Google Shape;242;p20"/>
          <p:cNvSpPr/>
          <p:nvPr/>
        </p:nvSpPr>
        <p:spPr>
          <a:xfrm>
            <a:off x="1840576" y="5723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243" name="Google Shape;243;p20"/>
          <p:cNvSpPr/>
          <p:nvPr/>
        </p:nvSpPr>
        <p:spPr>
          <a:xfrm>
            <a:off x="9296376" y="5723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244" name="Google Shape;244;p20"/>
          <p:cNvSpPr/>
          <p:nvPr/>
        </p:nvSpPr>
        <p:spPr>
          <a:xfrm>
            <a:off x="2013828" y="5897052"/>
            <a:ext cx="580154" cy="708272"/>
          </a:xfrm>
          <a:custGeom>
            <a:rect b="b" l="l" r="r" t="t"/>
            <a:pathLst>
              <a:path extrusionOk="0" h="708272" w="580154">
                <a:moveTo>
                  <a:pt x="0" y="0"/>
                </a:moveTo>
                <a:lnTo>
                  <a:pt x="580154" y="0"/>
                </a:lnTo>
                <a:lnTo>
                  <a:pt x="580154" y="708272"/>
                </a:lnTo>
                <a:lnTo>
                  <a:pt x="0" y="708272"/>
                </a:lnTo>
                <a:lnTo>
                  <a:pt x="0" y="0"/>
                </a:lnTo>
                <a:close/>
              </a:path>
            </a:pathLst>
          </a:custGeom>
          <a:blipFill rotWithShape="1">
            <a:blip r:embed="rId4">
              <a:alphaModFix/>
            </a:blip>
            <a:stretch>
              <a:fillRect b="0" l="0" r="0" t="0"/>
            </a:stretch>
          </a:blipFill>
          <a:ln>
            <a:noFill/>
          </a:ln>
        </p:spPr>
      </p:sp>
      <p:sp>
        <p:nvSpPr>
          <p:cNvPr id="245" name="Google Shape;245;p20"/>
          <p:cNvSpPr/>
          <p:nvPr/>
        </p:nvSpPr>
        <p:spPr>
          <a:xfrm>
            <a:off x="2013864" y="2784170"/>
            <a:ext cx="708272" cy="706360"/>
          </a:xfrm>
          <a:custGeom>
            <a:rect b="b" l="l" r="r" t="t"/>
            <a:pathLst>
              <a:path extrusionOk="0" h="706360" w="708272">
                <a:moveTo>
                  <a:pt x="0" y="0"/>
                </a:moveTo>
                <a:lnTo>
                  <a:pt x="708272" y="0"/>
                </a:lnTo>
                <a:lnTo>
                  <a:pt x="708272" y="706360"/>
                </a:lnTo>
                <a:lnTo>
                  <a:pt x="0" y="706360"/>
                </a:lnTo>
                <a:lnTo>
                  <a:pt x="0" y="0"/>
                </a:lnTo>
                <a:close/>
              </a:path>
            </a:pathLst>
          </a:custGeom>
          <a:blipFill rotWithShape="1">
            <a:blip r:embed="rId5">
              <a:alphaModFix/>
            </a:blip>
            <a:stretch>
              <a:fillRect b="0" l="0" r="0" t="0"/>
            </a:stretch>
          </a:blipFill>
          <a:ln>
            <a:noFill/>
          </a:ln>
        </p:spPr>
      </p:sp>
      <p:sp>
        <p:nvSpPr>
          <p:cNvPr id="246" name="Google Shape;246;p20"/>
          <p:cNvSpPr/>
          <p:nvPr/>
        </p:nvSpPr>
        <p:spPr>
          <a:xfrm>
            <a:off x="9479462" y="5897068"/>
            <a:ext cx="708272" cy="708272"/>
          </a:xfrm>
          <a:custGeom>
            <a:rect b="b" l="l" r="r" t="t"/>
            <a:pathLst>
              <a:path extrusionOk="0" h="708272" w="708272">
                <a:moveTo>
                  <a:pt x="0" y="0"/>
                </a:moveTo>
                <a:lnTo>
                  <a:pt x="708272" y="0"/>
                </a:lnTo>
                <a:lnTo>
                  <a:pt x="708272" y="708272"/>
                </a:lnTo>
                <a:lnTo>
                  <a:pt x="0" y="708272"/>
                </a:lnTo>
                <a:lnTo>
                  <a:pt x="0" y="0"/>
                </a:lnTo>
                <a:close/>
              </a:path>
            </a:pathLst>
          </a:custGeom>
          <a:blipFill rotWithShape="1">
            <a:blip r:embed="rId6">
              <a:alphaModFix/>
            </a:blip>
            <a:stretch>
              <a:fillRect b="0" l="0" r="0" t="0"/>
            </a:stretch>
          </a:blipFill>
          <a:ln>
            <a:noFill/>
          </a:ln>
        </p:spPr>
      </p:sp>
      <p:sp>
        <p:nvSpPr>
          <p:cNvPr id="247" name="Google Shape;247;p20"/>
          <p:cNvSpPr/>
          <p:nvPr/>
        </p:nvSpPr>
        <p:spPr>
          <a:xfrm>
            <a:off x="9476662" y="2804888"/>
            <a:ext cx="713892" cy="664928"/>
          </a:xfrm>
          <a:custGeom>
            <a:rect b="b" l="l" r="r" t="t"/>
            <a:pathLst>
              <a:path extrusionOk="0" h="664928" w="713892">
                <a:moveTo>
                  <a:pt x="0" y="0"/>
                </a:moveTo>
                <a:lnTo>
                  <a:pt x="713892" y="0"/>
                </a:lnTo>
                <a:lnTo>
                  <a:pt x="713892" y="664928"/>
                </a:lnTo>
                <a:lnTo>
                  <a:pt x="0" y="664928"/>
                </a:lnTo>
                <a:lnTo>
                  <a:pt x="0" y="0"/>
                </a:lnTo>
                <a:close/>
              </a:path>
            </a:pathLst>
          </a:custGeom>
          <a:blipFill rotWithShape="1">
            <a:blip r:embed="rId7">
              <a:alphaModFix/>
            </a:blip>
            <a:stretch>
              <a:fillRect b="0" l="0" r="0" t="0"/>
            </a:stretch>
          </a:blipFill>
          <a:ln>
            <a:noFill/>
          </a:ln>
        </p:spPr>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1"/>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p:nvPr/>
        </p:nvSpPr>
        <p:spPr>
          <a:xfrm>
            <a:off x="1000348" y="9217365"/>
            <a:ext cx="1139095" cy="559118"/>
          </a:xfrm>
          <a:custGeom>
            <a:rect b="b" l="l" r="r" t="t"/>
            <a:pathLst>
              <a:path extrusionOk="0" h="745490" w="1518793">
                <a:moveTo>
                  <a:pt x="759841" y="0"/>
                </a:moveTo>
                <a:cubicBezTo>
                  <a:pt x="344170" y="0"/>
                  <a:pt x="7239" y="333248"/>
                  <a:pt x="0" y="745490"/>
                </a:cubicBezTo>
                <a:lnTo>
                  <a:pt x="1518793" y="745490"/>
                </a:lnTo>
                <a:cubicBezTo>
                  <a:pt x="1511554" y="333248"/>
                  <a:pt x="1174623" y="0"/>
                  <a:pt x="759841"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1732619" y="9217365"/>
            <a:ext cx="1138714" cy="559118"/>
          </a:xfrm>
          <a:custGeom>
            <a:rect b="b" l="l" r="r" t="t"/>
            <a:pathLst>
              <a:path extrusionOk="0" h="745490" w="1518285">
                <a:moveTo>
                  <a:pt x="758952" y="0"/>
                </a:moveTo>
                <a:cubicBezTo>
                  <a:pt x="343662" y="0"/>
                  <a:pt x="6731" y="333248"/>
                  <a:pt x="0" y="745490"/>
                </a:cubicBezTo>
                <a:lnTo>
                  <a:pt x="1518285" y="745490"/>
                </a:lnTo>
                <a:cubicBezTo>
                  <a:pt x="1511046" y="333248"/>
                  <a:pt x="1174623" y="0"/>
                  <a:pt x="758952"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1"/>
          <p:cNvSpPr/>
          <p:nvPr/>
        </p:nvSpPr>
        <p:spPr>
          <a:xfrm>
            <a:off x="2399061" y="9217365"/>
            <a:ext cx="1138714" cy="559118"/>
          </a:xfrm>
          <a:custGeom>
            <a:rect b="b" l="l" r="r" t="t"/>
            <a:pathLst>
              <a:path extrusionOk="0" h="745490" w="1518285">
                <a:moveTo>
                  <a:pt x="758952" y="0"/>
                </a:moveTo>
                <a:cubicBezTo>
                  <a:pt x="343662" y="0"/>
                  <a:pt x="7239" y="333248"/>
                  <a:pt x="0" y="745490"/>
                </a:cubicBezTo>
                <a:lnTo>
                  <a:pt x="1518285" y="745490"/>
                </a:lnTo>
                <a:cubicBezTo>
                  <a:pt x="1511554" y="333248"/>
                  <a:pt x="1174623" y="0"/>
                  <a:pt x="758952"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txBox="1"/>
          <p:nvPr/>
        </p:nvSpPr>
        <p:spPr>
          <a:xfrm>
            <a:off x="10330097" y="4584955"/>
            <a:ext cx="48283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CommonLook PDF</a:t>
            </a:r>
            <a:endParaRPr/>
          </a:p>
        </p:txBody>
      </p:sp>
      <p:sp>
        <p:nvSpPr>
          <p:cNvPr id="261" name="Google Shape;261;p21"/>
          <p:cNvSpPr txBox="1"/>
          <p:nvPr/>
        </p:nvSpPr>
        <p:spPr>
          <a:xfrm>
            <a:off x="1531425" y="981475"/>
            <a:ext cx="109945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What’s Currently Used</a:t>
            </a:r>
            <a:endParaRPr/>
          </a:p>
        </p:txBody>
      </p:sp>
      <p:sp>
        <p:nvSpPr>
          <p:cNvPr id="262" name="Google Shape;262;p21"/>
          <p:cNvSpPr txBox="1"/>
          <p:nvPr/>
        </p:nvSpPr>
        <p:spPr>
          <a:xfrm>
            <a:off x="10330099" y="5367900"/>
            <a:ext cx="4828350" cy="21812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 professional tool focused on PDF accessibility. It helps create, check, and fix PDFs to meet standards like PDF/UA, WCAG, and Section 508, with detailed compliance reports.</a:t>
            </a:r>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p:txBody>
      </p:sp>
      <p:sp>
        <p:nvSpPr>
          <p:cNvPr id="263" name="Google Shape;263;p21"/>
          <p:cNvSpPr txBox="1"/>
          <p:nvPr/>
        </p:nvSpPr>
        <p:spPr>
          <a:xfrm>
            <a:off x="3129551" y="5367900"/>
            <a:ext cx="4828350" cy="18192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A PDF editor with built-in tools to add tags, alt text, and fix reading order. It includes an accessibility checker to ensure compliance with WCAG and PDF/UA standards.</a:t>
            </a:r>
            <a:endParaRPr/>
          </a:p>
        </p:txBody>
      </p:sp>
      <p:sp>
        <p:nvSpPr>
          <p:cNvPr id="264" name="Google Shape;264;p21"/>
          <p:cNvSpPr txBox="1"/>
          <p:nvPr/>
        </p:nvSpPr>
        <p:spPr>
          <a:xfrm>
            <a:off x="3129551" y="4584955"/>
            <a:ext cx="6013999"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Adobe Acrobat Pro DC</a:t>
            </a:r>
            <a:endParaRPr/>
          </a:p>
        </p:txBody>
      </p:sp>
      <p:sp>
        <p:nvSpPr>
          <p:cNvPr id="265" name="Google Shape;265;p21"/>
          <p:cNvSpPr/>
          <p:nvPr/>
        </p:nvSpPr>
        <p:spPr>
          <a:xfrm>
            <a:off x="3038126" y="3221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266" name="Google Shape;266;p21"/>
          <p:cNvSpPr/>
          <p:nvPr/>
        </p:nvSpPr>
        <p:spPr>
          <a:xfrm>
            <a:off x="10238672"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267" name="Google Shape;267;p21"/>
          <p:cNvSpPr/>
          <p:nvPr/>
        </p:nvSpPr>
        <p:spPr>
          <a:xfrm>
            <a:off x="3209512" y="3518432"/>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268" name="Google Shape;268;p21"/>
          <p:cNvSpPr/>
          <p:nvPr/>
        </p:nvSpPr>
        <p:spPr>
          <a:xfrm>
            <a:off x="10412880" y="3395096"/>
            <a:ext cx="706360" cy="708214"/>
          </a:xfrm>
          <a:custGeom>
            <a:rect b="b" l="l" r="r" t="t"/>
            <a:pathLst>
              <a:path extrusionOk="0" h="708214" w="706360">
                <a:moveTo>
                  <a:pt x="0" y="0"/>
                </a:moveTo>
                <a:lnTo>
                  <a:pt x="706360" y="0"/>
                </a:lnTo>
                <a:lnTo>
                  <a:pt x="706360" y="708214"/>
                </a:lnTo>
                <a:lnTo>
                  <a:pt x="0" y="708214"/>
                </a:lnTo>
                <a:lnTo>
                  <a:pt x="0" y="0"/>
                </a:lnTo>
                <a:close/>
              </a:path>
            </a:pathLst>
          </a:custGeom>
          <a:blipFill rotWithShape="1">
            <a:blip r:embed="rId4">
              <a:alphaModFix/>
            </a:blip>
            <a:stretch>
              <a:fillRect b="0" l="0" r="0" t="0"/>
            </a:stretch>
          </a:blipFill>
          <a:ln>
            <a:noFill/>
          </a:ln>
        </p:spPr>
      </p:sp>
      <p:sp>
        <p:nvSpPr>
          <p:cNvPr id="269" name="Google Shape;269;p21"/>
          <p:cNvSpPr/>
          <p:nvPr/>
        </p:nvSpPr>
        <p:spPr>
          <a:xfrm>
            <a:off x="16120945" y="1070000"/>
            <a:ext cx="736854" cy="736949"/>
          </a:xfrm>
          <a:custGeom>
            <a:rect b="b" l="l" r="r" t="t"/>
            <a:pathLst>
              <a:path extrusionOk="0" h="982599" w="982472">
                <a:moveTo>
                  <a:pt x="491236" y="0"/>
                </a:moveTo>
                <a:cubicBezTo>
                  <a:pt x="491236" y="0"/>
                  <a:pt x="491109" y="0"/>
                  <a:pt x="491109" y="0"/>
                </a:cubicBezTo>
                <a:cubicBezTo>
                  <a:pt x="219837" y="0"/>
                  <a:pt x="0" y="219964"/>
                  <a:pt x="0" y="491236"/>
                </a:cubicBezTo>
                <a:cubicBezTo>
                  <a:pt x="0" y="762508"/>
                  <a:pt x="219837" y="982599"/>
                  <a:pt x="491109" y="982599"/>
                </a:cubicBezTo>
                <a:cubicBezTo>
                  <a:pt x="762508" y="982599"/>
                  <a:pt x="982472" y="762635"/>
                  <a:pt x="982472" y="491236"/>
                </a:cubicBezTo>
                <a:cubicBezTo>
                  <a:pt x="982472" y="219837"/>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
          <p:cNvSpPr/>
          <p:nvPr/>
        </p:nvSpPr>
        <p:spPr>
          <a:xfrm>
            <a:off x="16120945" y="1565045"/>
            <a:ext cx="736854" cy="736854"/>
          </a:xfrm>
          <a:custGeom>
            <a:rect b="b" l="l" r="r" t="t"/>
            <a:pathLst>
              <a:path extrusionOk="0" h="982472" w="982472">
                <a:moveTo>
                  <a:pt x="491109" y="0"/>
                </a:moveTo>
                <a:cubicBezTo>
                  <a:pt x="219837" y="0"/>
                  <a:pt x="0" y="219837"/>
                  <a:pt x="0" y="491236"/>
                </a:cubicBezTo>
                <a:cubicBezTo>
                  <a:pt x="0" y="762635"/>
                  <a:pt x="219837" y="982472"/>
                  <a:pt x="491109" y="982472"/>
                </a:cubicBezTo>
                <a:cubicBezTo>
                  <a:pt x="762508" y="982472"/>
                  <a:pt x="982472" y="762635"/>
                  <a:pt x="982472" y="491236"/>
                </a:cubicBezTo>
                <a:cubicBezTo>
                  <a:pt x="982472" y="219837"/>
                  <a:pt x="762508" y="0"/>
                  <a:pt x="491109"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
          <p:cNvSpPr/>
          <p:nvPr/>
        </p:nvSpPr>
        <p:spPr>
          <a:xfrm>
            <a:off x="16120945" y="2670950"/>
            <a:ext cx="736854" cy="736949"/>
          </a:xfrm>
          <a:custGeom>
            <a:rect b="b" l="l" r="r" t="t"/>
            <a:pathLst>
              <a:path extrusionOk="0" h="982599" w="982472">
                <a:moveTo>
                  <a:pt x="491236" y="0"/>
                </a:moveTo>
                <a:cubicBezTo>
                  <a:pt x="491236" y="0"/>
                  <a:pt x="491109" y="0"/>
                  <a:pt x="491109" y="0"/>
                </a:cubicBezTo>
                <a:cubicBezTo>
                  <a:pt x="219837" y="0"/>
                  <a:pt x="0" y="219964"/>
                  <a:pt x="0" y="491363"/>
                </a:cubicBezTo>
                <a:cubicBezTo>
                  <a:pt x="0" y="762762"/>
                  <a:pt x="219837" y="982599"/>
                  <a:pt x="491109" y="982599"/>
                </a:cubicBezTo>
                <a:cubicBezTo>
                  <a:pt x="762508" y="982599"/>
                  <a:pt x="982472" y="762635"/>
                  <a:pt x="982472" y="491363"/>
                </a:cubicBezTo>
                <a:cubicBezTo>
                  <a:pt x="982472" y="220091"/>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2"/>
          <p:cNvSpPr txBox="1"/>
          <p:nvPr/>
        </p:nvSpPr>
        <p:spPr>
          <a:xfrm>
            <a:off x="9235425" y="5534125"/>
            <a:ext cx="6454950" cy="3667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The Pivot</a:t>
            </a:r>
            <a:endParaRPr/>
          </a:p>
        </p:txBody>
      </p:sp>
      <p:sp>
        <p:nvSpPr>
          <p:cNvPr id="282" name="Google Shape;282;p22"/>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03</a:t>
            </a:r>
            <a:endParaRPr/>
          </a:p>
        </p:txBody>
      </p:sp>
      <p:sp>
        <p:nvSpPr>
          <p:cNvPr id="283" name="Google Shape;283;p22"/>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284" name="Google Shape;284;p22"/>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285" name="Google Shape;285;p22"/>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286" name="Google Shape;286;p22"/>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287" name="Google Shape;287;p22"/>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288" name="Google Shape;288;p22"/>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3"/>
          <p:cNvSpPr/>
          <p:nvPr/>
        </p:nvSpPr>
        <p:spPr>
          <a:xfrm>
            <a:off x="1000348" y="491830"/>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1000348" y="9217365"/>
            <a:ext cx="1139095" cy="559118"/>
          </a:xfrm>
          <a:custGeom>
            <a:rect b="b" l="l" r="r" t="t"/>
            <a:pathLst>
              <a:path extrusionOk="0" h="745490" w="1518793">
                <a:moveTo>
                  <a:pt x="759841" y="0"/>
                </a:moveTo>
                <a:cubicBezTo>
                  <a:pt x="344170" y="0"/>
                  <a:pt x="7239" y="333248"/>
                  <a:pt x="0" y="745490"/>
                </a:cubicBezTo>
                <a:lnTo>
                  <a:pt x="1518793" y="745490"/>
                </a:lnTo>
                <a:cubicBezTo>
                  <a:pt x="1511554" y="333248"/>
                  <a:pt x="1174623" y="0"/>
                  <a:pt x="759841"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1732619" y="9217365"/>
            <a:ext cx="1138714" cy="559118"/>
          </a:xfrm>
          <a:custGeom>
            <a:rect b="b" l="l" r="r" t="t"/>
            <a:pathLst>
              <a:path extrusionOk="0" h="745490" w="1518285">
                <a:moveTo>
                  <a:pt x="758952" y="0"/>
                </a:moveTo>
                <a:cubicBezTo>
                  <a:pt x="343662" y="0"/>
                  <a:pt x="6731" y="333248"/>
                  <a:pt x="0" y="745490"/>
                </a:cubicBezTo>
                <a:lnTo>
                  <a:pt x="1518285" y="745490"/>
                </a:lnTo>
                <a:cubicBezTo>
                  <a:pt x="1511046" y="333248"/>
                  <a:pt x="1174623" y="0"/>
                  <a:pt x="758952"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p:nvPr/>
        </p:nvSpPr>
        <p:spPr>
          <a:xfrm>
            <a:off x="2399061" y="9217365"/>
            <a:ext cx="1138714" cy="559118"/>
          </a:xfrm>
          <a:custGeom>
            <a:rect b="b" l="l" r="r" t="t"/>
            <a:pathLst>
              <a:path extrusionOk="0" h="745490" w="1518285">
                <a:moveTo>
                  <a:pt x="758952" y="0"/>
                </a:moveTo>
                <a:cubicBezTo>
                  <a:pt x="343662" y="0"/>
                  <a:pt x="7239" y="333248"/>
                  <a:pt x="0" y="745490"/>
                </a:cubicBezTo>
                <a:lnTo>
                  <a:pt x="1518285" y="745490"/>
                </a:lnTo>
                <a:cubicBezTo>
                  <a:pt x="1511554" y="333248"/>
                  <a:pt x="1174623" y="0"/>
                  <a:pt x="758952"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3"/>
          <p:cNvSpPr txBox="1"/>
          <p:nvPr/>
        </p:nvSpPr>
        <p:spPr>
          <a:xfrm>
            <a:off x="10330097" y="4584955"/>
            <a:ext cx="48283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Images </a:t>
            </a:r>
            <a:endParaRPr/>
          </a:p>
        </p:txBody>
      </p:sp>
      <p:sp>
        <p:nvSpPr>
          <p:cNvPr id="302" name="Google Shape;302;p23"/>
          <p:cNvSpPr txBox="1"/>
          <p:nvPr/>
        </p:nvSpPr>
        <p:spPr>
          <a:xfrm>
            <a:off x="1531425" y="981475"/>
            <a:ext cx="109945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The Pivot</a:t>
            </a:r>
            <a:endParaRPr/>
          </a:p>
        </p:txBody>
      </p:sp>
      <p:sp>
        <p:nvSpPr>
          <p:cNvPr id="303" name="Google Shape;303;p23"/>
          <p:cNvSpPr txBox="1"/>
          <p:nvPr/>
        </p:nvSpPr>
        <p:spPr>
          <a:xfrm>
            <a:off x="10330099" y="5367900"/>
            <a:ext cx="4828350" cy="21812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It’s hard for tools to decide if an image should be read by a screen reader without human input because images can be informative or decorative. Context is needed to make the right choice.</a:t>
            </a:r>
            <a:endParaRPr/>
          </a:p>
        </p:txBody>
      </p:sp>
      <p:sp>
        <p:nvSpPr>
          <p:cNvPr id="304" name="Google Shape;304;p23"/>
          <p:cNvSpPr txBox="1"/>
          <p:nvPr/>
        </p:nvSpPr>
        <p:spPr>
          <a:xfrm>
            <a:off x="3129551" y="5367900"/>
            <a:ext cx="4828350" cy="39909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434343"/>
                </a:solidFill>
                <a:latin typeface="Arimo"/>
                <a:ea typeface="Arimo"/>
                <a:cs typeface="Arimo"/>
                <a:sym typeface="Arimo"/>
              </a:rPr>
              <a:t>PDF accessibility is difficult because tags are often poorly structured. Paragraphs can be split into multiple parts instead of one block, so editing applies to each part separately, causing inconsistent visuals.</a:t>
            </a:r>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p:txBody>
      </p:sp>
      <p:sp>
        <p:nvSpPr>
          <p:cNvPr id="305" name="Google Shape;305;p23"/>
          <p:cNvSpPr txBox="1"/>
          <p:nvPr/>
        </p:nvSpPr>
        <p:spPr>
          <a:xfrm>
            <a:off x="3129551" y="4584955"/>
            <a:ext cx="5042027"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Styling</a:t>
            </a:r>
            <a:endParaRPr/>
          </a:p>
        </p:txBody>
      </p:sp>
      <p:sp>
        <p:nvSpPr>
          <p:cNvPr id="306" name="Google Shape;306;p23"/>
          <p:cNvSpPr/>
          <p:nvPr/>
        </p:nvSpPr>
        <p:spPr>
          <a:xfrm>
            <a:off x="3038126" y="3221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307" name="Google Shape;307;p23"/>
          <p:cNvSpPr/>
          <p:nvPr/>
        </p:nvSpPr>
        <p:spPr>
          <a:xfrm>
            <a:off x="10238672"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308" name="Google Shape;308;p23"/>
          <p:cNvSpPr/>
          <p:nvPr/>
        </p:nvSpPr>
        <p:spPr>
          <a:xfrm>
            <a:off x="3209512" y="3518432"/>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309" name="Google Shape;309;p23"/>
          <p:cNvSpPr/>
          <p:nvPr/>
        </p:nvSpPr>
        <p:spPr>
          <a:xfrm>
            <a:off x="10412880" y="3395096"/>
            <a:ext cx="706360" cy="708214"/>
          </a:xfrm>
          <a:custGeom>
            <a:rect b="b" l="l" r="r" t="t"/>
            <a:pathLst>
              <a:path extrusionOk="0" h="708214" w="706360">
                <a:moveTo>
                  <a:pt x="0" y="0"/>
                </a:moveTo>
                <a:lnTo>
                  <a:pt x="706360" y="0"/>
                </a:lnTo>
                <a:lnTo>
                  <a:pt x="706360" y="708214"/>
                </a:lnTo>
                <a:lnTo>
                  <a:pt x="0" y="708214"/>
                </a:lnTo>
                <a:lnTo>
                  <a:pt x="0" y="0"/>
                </a:lnTo>
                <a:close/>
              </a:path>
            </a:pathLst>
          </a:custGeom>
          <a:blipFill rotWithShape="1">
            <a:blip r:embed="rId4">
              <a:alphaModFix/>
            </a:blip>
            <a:stretch>
              <a:fillRect b="0" l="0" r="0" t="0"/>
            </a:stretch>
          </a:blipFill>
          <a:ln>
            <a:noFill/>
          </a:ln>
        </p:spPr>
      </p:sp>
      <p:sp>
        <p:nvSpPr>
          <p:cNvPr id="310" name="Google Shape;310;p23"/>
          <p:cNvSpPr/>
          <p:nvPr/>
        </p:nvSpPr>
        <p:spPr>
          <a:xfrm>
            <a:off x="16120945" y="1070000"/>
            <a:ext cx="736854" cy="736949"/>
          </a:xfrm>
          <a:custGeom>
            <a:rect b="b" l="l" r="r" t="t"/>
            <a:pathLst>
              <a:path extrusionOk="0" h="982599" w="982472">
                <a:moveTo>
                  <a:pt x="491236" y="0"/>
                </a:moveTo>
                <a:cubicBezTo>
                  <a:pt x="491236" y="0"/>
                  <a:pt x="491109" y="0"/>
                  <a:pt x="491109" y="0"/>
                </a:cubicBezTo>
                <a:cubicBezTo>
                  <a:pt x="219837" y="0"/>
                  <a:pt x="0" y="219964"/>
                  <a:pt x="0" y="491236"/>
                </a:cubicBezTo>
                <a:cubicBezTo>
                  <a:pt x="0" y="762508"/>
                  <a:pt x="219837" y="982599"/>
                  <a:pt x="491109" y="982599"/>
                </a:cubicBezTo>
                <a:cubicBezTo>
                  <a:pt x="762508" y="982599"/>
                  <a:pt x="982472" y="762635"/>
                  <a:pt x="982472" y="491236"/>
                </a:cubicBezTo>
                <a:cubicBezTo>
                  <a:pt x="982472" y="219837"/>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
          <p:cNvSpPr/>
          <p:nvPr/>
        </p:nvSpPr>
        <p:spPr>
          <a:xfrm>
            <a:off x="16120945" y="1565045"/>
            <a:ext cx="736854" cy="736854"/>
          </a:xfrm>
          <a:custGeom>
            <a:rect b="b" l="l" r="r" t="t"/>
            <a:pathLst>
              <a:path extrusionOk="0" h="982472" w="982472">
                <a:moveTo>
                  <a:pt x="491109" y="0"/>
                </a:moveTo>
                <a:cubicBezTo>
                  <a:pt x="219837" y="0"/>
                  <a:pt x="0" y="219837"/>
                  <a:pt x="0" y="491236"/>
                </a:cubicBezTo>
                <a:cubicBezTo>
                  <a:pt x="0" y="762635"/>
                  <a:pt x="219837" y="982472"/>
                  <a:pt x="491109" y="982472"/>
                </a:cubicBezTo>
                <a:cubicBezTo>
                  <a:pt x="762508" y="982472"/>
                  <a:pt x="982472" y="762635"/>
                  <a:pt x="982472" y="491236"/>
                </a:cubicBezTo>
                <a:cubicBezTo>
                  <a:pt x="982472" y="219837"/>
                  <a:pt x="762508" y="0"/>
                  <a:pt x="491109"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a:off x="16120945" y="2670950"/>
            <a:ext cx="736854" cy="736949"/>
          </a:xfrm>
          <a:custGeom>
            <a:rect b="b" l="l" r="r" t="t"/>
            <a:pathLst>
              <a:path extrusionOk="0" h="982599" w="982472">
                <a:moveTo>
                  <a:pt x="491236" y="0"/>
                </a:moveTo>
                <a:cubicBezTo>
                  <a:pt x="491236" y="0"/>
                  <a:pt x="491109" y="0"/>
                  <a:pt x="491109" y="0"/>
                </a:cubicBezTo>
                <a:cubicBezTo>
                  <a:pt x="219837" y="0"/>
                  <a:pt x="0" y="219964"/>
                  <a:pt x="0" y="491363"/>
                </a:cubicBezTo>
                <a:cubicBezTo>
                  <a:pt x="0" y="762762"/>
                  <a:pt x="219837" y="982599"/>
                  <a:pt x="491109" y="982599"/>
                </a:cubicBezTo>
                <a:cubicBezTo>
                  <a:pt x="762508" y="982599"/>
                  <a:pt x="982472" y="762635"/>
                  <a:pt x="982472" y="491363"/>
                </a:cubicBezTo>
                <a:cubicBezTo>
                  <a:pt x="982472" y="220091"/>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4"/>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4"/>
          <p:cNvSpPr txBox="1"/>
          <p:nvPr/>
        </p:nvSpPr>
        <p:spPr>
          <a:xfrm>
            <a:off x="9235425" y="5534125"/>
            <a:ext cx="6454950" cy="3667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The Solution</a:t>
            </a:r>
            <a:endParaRPr/>
          </a:p>
        </p:txBody>
      </p:sp>
      <p:sp>
        <p:nvSpPr>
          <p:cNvPr id="323" name="Google Shape;323;p24"/>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04</a:t>
            </a:r>
            <a:endParaRPr/>
          </a:p>
        </p:txBody>
      </p:sp>
      <p:sp>
        <p:nvSpPr>
          <p:cNvPr id="324" name="Google Shape;324;p24"/>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325" name="Google Shape;325;p24"/>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326" name="Google Shape;326;p24"/>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327" name="Google Shape;327;p24"/>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328" name="Google Shape;328;p24"/>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329" name="Google Shape;329;p24"/>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5"/>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p:nvPr/>
        </p:nvSpPr>
        <p:spPr>
          <a:xfrm>
            <a:off x="1000348" y="9217365"/>
            <a:ext cx="1139095" cy="559118"/>
          </a:xfrm>
          <a:custGeom>
            <a:rect b="b" l="l" r="r" t="t"/>
            <a:pathLst>
              <a:path extrusionOk="0" h="745490" w="1518793">
                <a:moveTo>
                  <a:pt x="759841" y="0"/>
                </a:moveTo>
                <a:cubicBezTo>
                  <a:pt x="344170" y="0"/>
                  <a:pt x="7239" y="333248"/>
                  <a:pt x="0" y="745490"/>
                </a:cubicBezTo>
                <a:lnTo>
                  <a:pt x="1518793" y="745490"/>
                </a:lnTo>
                <a:cubicBezTo>
                  <a:pt x="1511554" y="333248"/>
                  <a:pt x="1174623" y="0"/>
                  <a:pt x="759841"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1732619" y="9217365"/>
            <a:ext cx="1138714" cy="559118"/>
          </a:xfrm>
          <a:custGeom>
            <a:rect b="b" l="l" r="r" t="t"/>
            <a:pathLst>
              <a:path extrusionOk="0" h="745490" w="1518285">
                <a:moveTo>
                  <a:pt x="758952" y="0"/>
                </a:moveTo>
                <a:cubicBezTo>
                  <a:pt x="343662" y="0"/>
                  <a:pt x="6731" y="333248"/>
                  <a:pt x="0" y="745490"/>
                </a:cubicBezTo>
                <a:lnTo>
                  <a:pt x="1518285" y="745490"/>
                </a:lnTo>
                <a:cubicBezTo>
                  <a:pt x="1511046" y="333248"/>
                  <a:pt x="1174623" y="0"/>
                  <a:pt x="758952"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
          <p:cNvSpPr/>
          <p:nvPr/>
        </p:nvSpPr>
        <p:spPr>
          <a:xfrm>
            <a:off x="2399061" y="9217365"/>
            <a:ext cx="1138714" cy="559118"/>
          </a:xfrm>
          <a:custGeom>
            <a:rect b="b" l="l" r="r" t="t"/>
            <a:pathLst>
              <a:path extrusionOk="0" h="745490" w="1518285">
                <a:moveTo>
                  <a:pt x="758952" y="0"/>
                </a:moveTo>
                <a:cubicBezTo>
                  <a:pt x="343662" y="0"/>
                  <a:pt x="7239" y="333248"/>
                  <a:pt x="0" y="745490"/>
                </a:cubicBezTo>
                <a:lnTo>
                  <a:pt x="1518285" y="745490"/>
                </a:lnTo>
                <a:cubicBezTo>
                  <a:pt x="1511554" y="333248"/>
                  <a:pt x="1174623" y="0"/>
                  <a:pt x="758952"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5"/>
          <p:cNvSpPr txBox="1"/>
          <p:nvPr/>
        </p:nvSpPr>
        <p:spPr>
          <a:xfrm>
            <a:off x="10330097" y="4584955"/>
            <a:ext cx="5255002"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How Does It Work?</a:t>
            </a:r>
            <a:endParaRPr/>
          </a:p>
        </p:txBody>
      </p:sp>
      <p:sp>
        <p:nvSpPr>
          <p:cNvPr id="343" name="Google Shape;343;p25"/>
          <p:cNvSpPr txBox="1"/>
          <p:nvPr/>
        </p:nvSpPr>
        <p:spPr>
          <a:xfrm>
            <a:off x="1531425" y="981475"/>
            <a:ext cx="109945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What’s A Screen-Reader</a:t>
            </a:r>
            <a:endParaRPr/>
          </a:p>
        </p:txBody>
      </p:sp>
      <p:sp>
        <p:nvSpPr>
          <p:cNvPr id="344" name="Google Shape;344;p25"/>
          <p:cNvSpPr txBox="1"/>
          <p:nvPr/>
        </p:nvSpPr>
        <p:spPr>
          <a:xfrm>
            <a:off x="10330099" y="5367900"/>
            <a:ext cx="4828350" cy="2905125"/>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Converts text and visuals into speech or Braille output.</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Uses keyboard navigation to move through content.</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Interprets document structure (like headings and lists) to guide users.</a:t>
            </a:r>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p:txBody>
      </p:sp>
      <p:sp>
        <p:nvSpPr>
          <p:cNvPr id="345" name="Google Shape;345;p25"/>
          <p:cNvSpPr txBox="1"/>
          <p:nvPr/>
        </p:nvSpPr>
        <p:spPr>
          <a:xfrm>
            <a:off x="3129551" y="5367900"/>
            <a:ext cx="4828350" cy="3267075"/>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Software that helps visually impaired users access digital content.</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Reads aloud text and describes images or interface elements.</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Enables independent use of computers, websites, and documents.</a:t>
            </a:r>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p:txBody>
      </p:sp>
      <p:sp>
        <p:nvSpPr>
          <p:cNvPr id="346" name="Google Shape;346;p25"/>
          <p:cNvSpPr txBox="1"/>
          <p:nvPr/>
        </p:nvSpPr>
        <p:spPr>
          <a:xfrm>
            <a:off x="3129551" y="4584955"/>
            <a:ext cx="5042027"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What is it?</a:t>
            </a:r>
            <a:endParaRPr/>
          </a:p>
        </p:txBody>
      </p:sp>
      <p:sp>
        <p:nvSpPr>
          <p:cNvPr id="347" name="Google Shape;347;p25"/>
          <p:cNvSpPr/>
          <p:nvPr/>
        </p:nvSpPr>
        <p:spPr>
          <a:xfrm>
            <a:off x="3038126" y="3221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348" name="Google Shape;348;p25"/>
          <p:cNvSpPr/>
          <p:nvPr/>
        </p:nvSpPr>
        <p:spPr>
          <a:xfrm>
            <a:off x="10238672"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349" name="Google Shape;349;p25"/>
          <p:cNvSpPr/>
          <p:nvPr/>
        </p:nvSpPr>
        <p:spPr>
          <a:xfrm>
            <a:off x="3209512" y="3518432"/>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350" name="Google Shape;350;p25"/>
          <p:cNvSpPr/>
          <p:nvPr/>
        </p:nvSpPr>
        <p:spPr>
          <a:xfrm>
            <a:off x="10412880" y="3395096"/>
            <a:ext cx="706360" cy="708214"/>
          </a:xfrm>
          <a:custGeom>
            <a:rect b="b" l="l" r="r" t="t"/>
            <a:pathLst>
              <a:path extrusionOk="0" h="708214" w="706360">
                <a:moveTo>
                  <a:pt x="0" y="0"/>
                </a:moveTo>
                <a:lnTo>
                  <a:pt x="706360" y="0"/>
                </a:lnTo>
                <a:lnTo>
                  <a:pt x="706360" y="708214"/>
                </a:lnTo>
                <a:lnTo>
                  <a:pt x="0" y="708214"/>
                </a:lnTo>
                <a:lnTo>
                  <a:pt x="0" y="0"/>
                </a:lnTo>
                <a:close/>
              </a:path>
            </a:pathLst>
          </a:custGeom>
          <a:blipFill rotWithShape="1">
            <a:blip r:embed="rId4">
              <a:alphaModFix/>
            </a:blip>
            <a:stretch>
              <a:fillRect b="0" l="0" r="0" t="0"/>
            </a:stretch>
          </a:blipFill>
          <a:ln>
            <a:noFill/>
          </a:ln>
        </p:spPr>
      </p:sp>
      <p:sp>
        <p:nvSpPr>
          <p:cNvPr id="351" name="Google Shape;351;p25"/>
          <p:cNvSpPr/>
          <p:nvPr/>
        </p:nvSpPr>
        <p:spPr>
          <a:xfrm>
            <a:off x="16120945" y="1070000"/>
            <a:ext cx="736854" cy="736949"/>
          </a:xfrm>
          <a:custGeom>
            <a:rect b="b" l="l" r="r" t="t"/>
            <a:pathLst>
              <a:path extrusionOk="0" h="982599" w="982472">
                <a:moveTo>
                  <a:pt x="491236" y="0"/>
                </a:moveTo>
                <a:cubicBezTo>
                  <a:pt x="491236" y="0"/>
                  <a:pt x="491109" y="0"/>
                  <a:pt x="491109" y="0"/>
                </a:cubicBezTo>
                <a:cubicBezTo>
                  <a:pt x="219837" y="0"/>
                  <a:pt x="0" y="219964"/>
                  <a:pt x="0" y="491236"/>
                </a:cubicBezTo>
                <a:cubicBezTo>
                  <a:pt x="0" y="762508"/>
                  <a:pt x="219837" y="982599"/>
                  <a:pt x="491109" y="982599"/>
                </a:cubicBezTo>
                <a:cubicBezTo>
                  <a:pt x="762508" y="982599"/>
                  <a:pt x="982472" y="762635"/>
                  <a:pt x="982472" y="491236"/>
                </a:cubicBezTo>
                <a:cubicBezTo>
                  <a:pt x="982472" y="219837"/>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16120945" y="1565045"/>
            <a:ext cx="736854" cy="736854"/>
          </a:xfrm>
          <a:custGeom>
            <a:rect b="b" l="l" r="r" t="t"/>
            <a:pathLst>
              <a:path extrusionOk="0" h="982472" w="982472">
                <a:moveTo>
                  <a:pt x="491109" y="0"/>
                </a:moveTo>
                <a:cubicBezTo>
                  <a:pt x="219837" y="0"/>
                  <a:pt x="0" y="219837"/>
                  <a:pt x="0" y="491236"/>
                </a:cubicBezTo>
                <a:cubicBezTo>
                  <a:pt x="0" y="762635"/>
                  <a:pt x="219837" y="982472"/>
                  <a:pt x="491109" y="982472"/>
                </a:cubicBezTo>
                <a:cubicBezTo>
                  <a:pt x="762508" y="982472"/>
                  <a:pt x="982472" y="762635"/>
                  <a:pt x="982472" y="491236"/>
                </a:cubicBezTo>
                <a:cubicBezTo>
                  <a:pt x="982472" y="219837"/>
                  <a:pt x="762508" y="0"/>
                  <a:pt x="491109"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5"/>
          <p:cNvSpPr/>
          <p:nvPr/>
        </p:nvSpPr>
        <p:spPr>
          <a:xfrm>
            <a:off x="16120945" y="2670950"/>
            <a:ext cx="736854" cy="736949"/>
          </a:xfrm>
          <a:custGeom>
            <a:rect b="b" l="l" r="r" t="t"/>
            <a:pathLst>
              <a:path extrusionOk="0" h="982599" w="982472">
                <a:moveTo>
                  <a:pt x="491236" y="0"/>
                </a:moveTo>
                <a:cubicBezTo>
                  <a:pt x="491236" y="0"/>
                  <a:pt x="491109" y="0"/>
                  <a:pt x="491109" y="0"/>
                </a:cubicBezTo>
                <a:cubicBezTo>
                  <a:pt x="219837" y="0"/>
                  <a:pt x="0" y="219964"/>
                  <a:pt x="0" y="491363"/>
                </a:cubicBezTo>
                <a:cubicBezTo>
                  <a:pt x="0" y="762762"/>
                  <a:pt x="219837" y="982599"/>
                  <a:pt x="491109" y="982599"/>
                </a:cubicBezTo>
                <a:cubicBezTo>
                  <a:pt x="762508" y="982599"/>
                  <a:pt x="982472" y="762635"/>
                  <a:pt x="982472" y="491363"/>
                </a:cubicBezTo>
                <a:cubicBezTo>
                  <a:pt x="982472" y="220091"/>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6"/>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6"/>
          <p:cNvSpPr txBox="1"/>
          <p:nvPr/>
        </p:nvSpPr>
        <p:spPr>
          <a:xfrm>
            <a:off x="9235425" y="5534125"/>
            <a:ext cx="6454950" cy="3667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Tech Stack</a:t>
            </a:r>
            <a:endParaRPr/>
          </a:p>
        </p:txBody>
      </p:sp>
      <p:sp>
        <p:nvSpPr>
          <p:cNvPr id="364" name="Google Shape;364;p26"/>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04</a:t>
            </a:r>
            <a:endParaRPr/>
          </a:p>
        </p:txBody>
      </p:sp>
      <p:sp>
        <p:nvSpPr>
          <p:cNvPr id="365" name="Google Shape;365;p26"/>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366" name="Google Shape;366;p26"/>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367" name="Google Shape;367;p26"/>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368" name="Google Shape;368;p26"/>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369" name="Google Shape;369;p26"/>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370" name="Google Shape;370;p26"/>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7"/>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rot="-5400000">
            <a:off x="14203072" y="8847458"/>
            <a:ext cx="739140" cy="739140"/>
          </a:xfrm>
          <a:custGeom>
            <a:rect b="b" l="l" r="r" t="t"/>
            <a:pathLst>
              <a:path extrusionOk="0" h="985520" w="985520">
                <a:moveTo>
                  <a:pt x="0" y="492760"/>
                </a:moveTo>
                <a:cubicBezTo>
                  <a:pt x="272161" y="492760"/>
                  <a:pt x="492760" y="272161"/>
                  <a:pt x="492760" y="0"/>
                </a:cubicBezTo>
                <a:cubicBezTo>
                  <a:pt x="492760" y="272161"/>
                  <a:pt x="713359" y="492760"/>
                  <a:pt x="985520" y="492760"/>
                </a:cubicBezTo>
                <a:cubicBezTo>
                  <a:pt x="713359" y="492760"/>
                  <a:pt x="492760" y="713359"/>
                  <a:pt x="492760" y="985520"/>
                </a:cubicBezTo>
                <a:cubicBezTo>
                  <a:pt x="492760" y="713486"/>
                  <a:pt x="272161" y="492760"/>
                  <a:pt x="0" y="492760"/>
                </a:cubicBez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rot="-5400000">
            <a:off x="14595272" y="8847458"/>
            <a:ext cx="739140" cy="739140"/>
          </a:xfrm>
          <a:custGeom>
            <a:rect b="b" l="l" r="r" t="t"/>
            <a:pathLst>
              <a:path extrusionOk="0" h="985520" w="985520">
                <a:moveTo>
                  <a:pt x="0" y="492760"/>
                </a:moveTo>
                <a:cubicBezTo>
                  <a:pt x="272161" y="492760"/>
                  <a:pt x="492760" y="272161"/>
                  <a:pt x="492760" y="0"/>
                </a:cubicBezTo>
                <a:cubicBezTo>
                  <a:pt x="492760" y="272161"/>
                  <a:pt x="713359" y="492760"/>
                  <a:pt x="985520" y="492760"/>
                </a:cubicBezTo>
                <a:cubicBezTo>
                  <a:pt x="713359" y="492760"/>
                  <a:pt x="492760" y="713359"/>
                  <a:pt x="492760" y="985520"/>
                </a:cubicBezTo>
                <a:cubicBezTo>
                  <a:pt x="492760" y="713486"/>
                  <a:pt x="272161" y="492760"/>
                  <a:pt x="0" y="492760"/>
                </a:cubicBez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rot="-5400000">
            <a:off x="15002822" y="8847458"/>
            <a:ext cx="739140" cy="739140"/>
          </a:xfrm>
          <a:custGeom>
            <a:rect b="b" l="l" r="r" t="t"/>
            <a:pathLst>
              <a:path extrusionOk="0" h="985520" w="985520">
                <a:moveTo>
                  <a:pt x="0" y="492760"/>
                </a:moveTo>
                <a:cubicBezTo>
                  <a:pt x="272161" y="492760"/>
                  <a:pt x="492760" y="272161"/>
                  <a:pt x="492760" y="0"/>
                </a:cubicBezTo>
                <a:cubicBezTo>
                  <a:pt x="492760" y="272161"/>
                  <a:pt x="713359" y="492760"/>
                  <a:pt x="985520" y="492760"/>
                </a:cubicBezTo>
                <a:cubicBezTo>
                  <a:pt x="713359" y="492760"/>
                  <a:pt x="492760" y="713359"/>
                  <a:pt x="492760" y="985520"/>
                </a:cubicBezTo>
                <a:cubicBezTo>
                  <a:pt x="492760" y="713486"/>
                  <a:pt x="272161" y="492760"/>
                  <a:pt x="0" y="492760"/>
                </a:cubicBez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rot="-5400000">
            <a:off x="16108798" y="8847458"/>
            <a:ext cx="739140" cy="739140"/>
          </a:xfrm>
          <a:custGeom>
            <a:rect b="b" l="l" r="r" t="t"/>
            <a:pathLst>
              <a:path extrusionOk="0" h="985520" w="985520">
                <a:moveTo>
                  <a:pt x="0" y="492760"/>
                </a:moveTo>
                <a:cubicBezTo>
                  <a:pt x="272161" y="492760"/>
                  <a:pt x="492760" y="272161"/>
                  <a:pt x="492760" y="0"/>
                </a:cubicBezTo>
                <a:cubicBezTo>
                  <a:pt x="492760" y="272161"/>
                  <a:pt x="713359" y="492760"/>
                  <a:pt x="985520" y="492760"/>
                </a:cubicBezTo>
                <a:cubicBezTo>
                  <a:pt x="713359" y="492760"/>
                  <a:pt x="492760" y="713359"/>
                  <a:pt x="492760" y="985520"/>
                </a:cubicBezTo>
                <a:cubicBezTo>
                  <a:pt x="492760" y="713486"/>
                  <a:pt x="272161" y="492760"/>
                  <a:pt x="0" y="492760"/>
                </a:cubicBez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txBox="1"/>
          <p:nvPr/>
        </p:nvSpPr>
        <p:spPr>
          <a:xfrm>
            <a:off x="1531425" y="981475"/>
            <a:ext cx="152251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Tech Stack</a:t>
            </a:r>
            <a:endParaRPr/>
          </a:p>
        </p:txBody>
      </p:sp>
      <p:sp>
        <p:nvSpPr>
          <p:cNvPr id="385" name="Google Shape;385;p27"/>
          <p:cNvSpPr txBox="1"/>
          <p:nvPr/>
        </p:nvSpPr>
        <p:spPr>
          <a:xfrm>
            <a:off x="7170887" y="4595832"/>
            <a:ext cx="3945750" cy="60007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999" u="none" cap="none" strike="noStrike">
                <a:solidFill>
                  <a:srgbClr val="434343"/>
                </a:solidFill>
                <a:latin typeface="Prompt"/>
                <a:ea typeface="Prompt"/>
                <a:cs typeface="Prompt"/>
                <a:sym typeface="Prompt"/>
              </a:rPr>
              <a:t>Tesseract OCR</a:t>
            </a:r>
            <a:endParaRPr/>
          </a:p>
        </p:txBody>
      </p:sp>
      <p:sp>
        <p:nvSpPr>
          <p:cNvPr id="386" name="Google Shape;386;p27"/>
          <p:cNvSpPr txBox="1"/>
          <p:nvPr/>
        </p:nvSpPr>
        <p:spPr>
          <a:xfrm>
            <a:off x="7170823" y="5369226"/>
            <a:ext cx="3946350" cy="1095375"/>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Local</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Lot of documentation</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French version</a:t>
            </a:r>
            <a:endParaRPr/>
          </a:p>
        </p:txBody>
      </p:sp>
      <p:sp>
        <p:nvSpPr>
          <p:cNvPr id="387" name="Google Shape;387;p27"/>
          <p:cNvSpPr txBox="1"/>
          <p:nvPr/>
        </p:nvSpPr>
        <p:spPr>
          <a:xfrm>
            <a:off x="12264271" y="5369226"/>
            <a:ext cx="3946350" cy="1095375"/>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Quick to do</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Maintainable</a:t>
            </a:r>
            <a:endParaRPr/>
          </a:p>
          <a:p>
            <a:pPr indent="0" lvl="0" marL="0" marR="0" rtl="0" algn="l">
              <a:lnSpc>
                <a:spcPct val="119958"/>
              </a:lnSpc>
              <a:spcBef>
                <a:spcPts val="0"/>
              </a:spcBef>
              <a:spcAft>
                <a:spcPts val="0"/>
              </a:spcAft>
              <a:buNone/>
            </a:pPr>
            <a:r>
              <a:t/>
            </a:r>
            <a:endParaRPr b="0" i="0" sz="2400" u="none" cap="none" strike="noStrike">
              <a:solidFill>
                <a:srgbClr val="434343"/>
              </a:solidFill>
              <a:latin typeface="Arimo"/>
              <a:ea typeface="Arimo"/>
              <a:cs typeface="Arimo"/>
              <a:sym typeface="Arimo"/>
            </a:endParaRPr>
          </a:p>
        </p:txBody>
      </p:sp>
      <p:sp>
        <p:nvSpPr>
          <p:cNvPr id="388" name="Google Shape;388;p27"/>
          <p:cNvSpPr txBox="1"/>
          <p:nvPr/>
        </p:nvSpPr>
        <p:spPr>
          <a:xfrm>
            <a:off x="12264295" y="4586307"/>
            <a:ext cx="449228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Web App (Bolt)</a:t>
            </a:r>
            <a:endParaRPr/>
          </a:p>
        </p:txBody>
      </p:sp>
      <p:sp>
        <p:nvSpPr>
          <p:cNvPr id="389" name="Google Shape;389;p27"/>
          <p:cNvSpPr/>
          <p:nvPr/>
        </p:nvSpPr>
        <p:spPr>
          <a:xfrm>
            <a:off x="7079376"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390" name="Google Shape;390;p27"/>
          <p:cNvSpPr/>
          <p:nvPr/>
        </p:nvSpPr>
        <p:spPr>
          <a:xfrm>
            <a:off x="12172826" y="3221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grpSp>
        <p:nvGrpSpPr>
          <p:cNvPr id="391" name="Google Shape;391;p27"/>
          <p:cNvGrpSpPr/>
          <p:nvPr/>
        </p:nvGrpSpPr>
        <p:grpSpPr>
          <a:xfrm>
            <a:off x="1985926" y="3221800"/>
            <a:ext cx="4037724" cy="3848557"/>
            <a:chOff x="0" y="0"/>
            <a:chExt cx="5383632" cy="5131410"/>
          </a:xfrm>
        </p:grpSpPr>
        <p:sp>
          <p:nvSpPr>
            <p:cNvPr id="392" name="Google Shape;392;p27"/>
            <p:cNvSpPr txBox="1"/>
            <p:nvPr/>
          </p:nvSpPr>
          <p:spPr>
            <a:xfrm>
              <a:off x="121932" y="2866410"/>
              <a:ext cx="5261700" cy="2265000"/>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Lot of libraries (PyMuPDF,...)</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Already </a:t>
              </a:r>
              <a:r>
                <a:rPr lang="en-US" sz="2400">
                  <a:solidFill>
                    <a:srgbClr val="434343"/>
                  </a:solidFill>
                  <a:latin typeface="Arimo"/>
                  <a:ea typeface="Arimo"/>
                  <a:cs typeface="Arimo"/>
                  <a:sym typeface="Arimo"/>
                </a:rPr>
                <a:t>known</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Big community</a:t>
              </a:r>
              <a:endParaRPr/>
            </a:p>
          </p:txBody>
        </p:sp>
        <p:sp>
          <p:nvSpPr>
            <p:cNvPr id="393" name="Google Shape;393;p27"/>
            <p:cNvSpPr txBox="1"/>
            <p:nvPr/>
          </p:nvSpPr>
          <p:spPr>
            <a:xfrm>
              <a:off x="121932" y="1822518"/>
              <a:ext cx="5261000" cy="8096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Python </a:t>
              </a:r>
              <a:endParaRPr/>
            </a:p>
          </p:txBody>
        </p:sp>
        <p:sp>
          <p:nvSpPr>
            <p:cNvPr id="394" name="Google Shape;394;p27"/>
            <p:cNvSpPr/>
            <p:nvPr/>
          </p:nvSpPr>
          <p:spPr>
            <a:xfrm>
              <a:off x="0" y="0"/>
              <a:ext cx="1406398" cy="1406398"/>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395" name="Google Shape;395;p27"/>
            <p:cNvSpPr/>
            <p:nvPr/>
          </p:nvSpPr>
          <p:spPr>
            <a:xfrm>
              <a:off x="201195" y="205272"/>
              <a:ext cx="1004008" cy="995845"/>
            </a:xfrm>
            <a:custGeom>
              <a:rect b="b" l="l" r="r" t="t"/>
              <a:pathLst>
                <a:path extrusionOk="0" h="995845" w="1004008">
                  <a:moveTo>
                    <a:pt x="0" y="0"/>
                  </a:moveTo>
                  <a:lnTo>
                    <a:pt x="1004008" y="0"/>
                  </a:lnTo>
                  <a:lnTo>
                    <a:pt x="1004008" y="995845"/>
                  </a:lnTo>
                  <a:lnTo>
                    <a:pt x="0" y="995845"/>
                  </a:lnTo>
                  <a:lnTo>
                    <a:pt x="0" y="0"/>
                  </a:lnTo>
                  <a:close/>
                </a:path>
              </a:pathLst>
            </a:custGeom>
            <a:blipFill rotWithShape="1">
              <a:blip r:embed="rId3">
                <a:alphaModFix/>
              </a:blip>
              <a:stretch>
                <a:fillRect b="0" l="0" r="0" t="0"/>
              </a:stretch>
            </a:blipFill>
            <a:ln>
              <a:noFill/>
            </a:ln>
          </p:spPr>
        </p:sp>
      </p:grpSp>
      <p:sp>
        <p:nvSpPr>
          <p:cNvPr id="396" name="Google Shape;396;p27"/>
          <p:cNvSpPr/>
          <p:nvPr/>
        </p:nvSpPr>
        <p:spPr>
          <a:xfrm>
            <a:off x="7215432" y="3372540"/>
            <a:ext cx="782736" cy="753300"/>
          </a:xfrm>
          <a:custGeom>
            <a:rect b="b" l="l" r="r" t="t"/>
            <a:pathLst>
              <a:path extrusionOk="0" h="753300" w="782736">
                <a:moveTo>
                  <a:pt x="0" y="0"/>
                </a:moveTo>
                <a:lnTo>
                  <a:pt x="782736" y="0"/>
                </a:lnTo>
                <a:lnTo>
                  <a:pt x="782736" y="753300"/>
                </a:lnTo>
                <a:lnTo>
                  <a:pt x="0" y="753300"/>
                </a:lnTo>
                <a:lnTo>
                  <a:pt x="0" y="0"/>
                </a:lnTo>
                <a:close/>
              </a:path>
            </a:pathLst>
          </a:custGeom>
          <a:blipFill rotWithShape="1">
            <a:blip r:embed="rId4">
              <a:alphaModFix/>
            </a:blip>
            <a:stretch>
              <a:fillRect b="0" l="0" r="0" t="0"/>
            </a:stretch>
          </a:blipFill>
          <a:ln>
            <a:noFill/>
          </a:ln>
        </p:spPr>
      </p:sp>
      <p:sp>
        <p:nvSpPr>
          <p:cNvPr id="397" name="Google Shape;397;p27"/>
          <p:cNvSpPr/>
          <p:nvPr/>
        </p:nvSpPr>
        <p:spPr>
          <a:xfrm>
            <a:off x="12349862" y="3524272"/>
            <a:ext cx="700742" cy="449836"/>
          </a:xfrm>
          <a:custGeom>
            <a:rect b="b" l="l" r="r" t="t"/>
            <a:pathLst>
              <a:path extrusionOk="0" h="449836" w="700742">
                <a:moveTo>
                  <a:pt x="0" y="0"/>
                </a:moveTo>
                <a:lnTo>
                  <a:pt x="700742" y="0"/>
                </a:lnTo>
                <a:lnTo>
                  <a:pt x="700742" y="449836"/>
                </a:lnTo>
                <a:lnTo>
                  <a:pt x="0" y="449836"/>
                </a:lnTo>
                <a:lnTo>
                  <a:pt x="0" y="0"/>
                </a:lnTo>
                <a:close/>
              </a:path>
            </a:pathLst>
          </a:custGeom>
          <a:blipFill rotWithShape="1">
            <a:blip r:embed="rId5">
              <a:alphaModFix/>
            </a:blip>
            <a:stretch>
              <a:fillRect b="0" l="0" r="0" t="0"/>
            </a:stretch>
          </a:blipFill>
          <a:ln>
            <a:noFill/>
          </a:ln>
        </p:spPr>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8"/>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txBox="1"/>
          <p:nvPr/>
        </p:nvSpPr>
        <p:spPr>
          <a:xfrm>
            <a:off x="9235425" y="6448525"/>
            <a:ext cx="6454950" cy="1838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Demo</a:t>
            </a:r>
            <a:endParaRPr/>
          </a:p>
        </p:txBody>
      </p:sp>
      <p:sp>
        <p:nvSpPr>
          <p:cNvPr id="408" name="Google Shape;408;p28"/>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05</a:t>
            </a:r>
            <a:endParaRPr/>
          </a:p>
        </p:txBody>
      </p:sp>
      <p:sp>
        <p:nvSpPr>
          <p:cNvPr id="409" name="Google Shape;409;p28"/>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410" name="Google Shape;410;p28"/>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411" name="Google Shape;411;p28"/>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412" name="Google Shape;412;p28"/>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413" name="Google Shape;413;p28"/>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414" name="Google Shape;414;p28"/>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9"/>
          <p:cNvSpPr/>
          <p:nvPr/>
        </p:nvSpPr>
        <p:spPr>
          <a:xfrm>
            <a:off x="985200"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9"/>
          <p:cNvSpPr txBox="1"/>
          <p:nvPr/>
        </p:nvSpPr>
        <p:spPr>
          <a:xfrm>
            <a:off x="7210334" y="5534125"/>
            <a:ext cx="10082041" cy="3667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Future Improvement</a:t>
            </a:r>
            <a:endParaRPr/>
          </a:p>
        </p:txBody>
      </p:sp>
      <p:sp>
        <p:nvSpPr>
          <p:cNvPr id="425" name="Google Shape;425;p29"/>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06</a:t>
            </a:r>
            <a:endParaRPr/>
          </a:p>
        </p:txBody>
      </p:sp>
      <p:sp>
        <p:nvSpPr>
          <p:cNvPr id="426" name="Google Shape;426;p29"/>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427" name="Google Shape;427;p29"/>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428" name="Google Shape;428;p29"/>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429" name="Google Shape;429;p29"/>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430" name="Google Shape;430;p29"/>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431" name="Google Shape;431;p29"/>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0"/>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
          <p:cNvSpPr/>
          <p:nvPr/>
        </p:nvSpPr>
        <p:spPr>
          <a:xfrm>
            <a:off x="992891" y="8765041"/>
            <a:ext cx="1823770" cy="1029488"/>
          </a:xfrm>
          <a:custGeom>
            <a:rect b="b" l="l" r="r" t="t"/>
            <a:pathLst>
              <a:path extrusionOk="0" h="1029488" w="1823770">
                <a:moveTo>
                  <a:pt x="0" y="0"/>
                </a:moveTo>
                <a:lnTo>
                  <a:pt x="1823770" y="0"/>
                </a:lnTo>
                <a:lnTo>
                  <a:pt x="1823770" y="1029488"/>
                </a:lnTo>
                <a:lnTo>
                  <a:pt x="0" y="1029488"/>
                </a:lnTo>
                <a:lnTo>
                  <a:pt x="0" y="0"/>
                </a:lnTo>
                <a:close/>
              </a:path>
            </a:pathLst>
          </a:custGeom>
          <a:blipFill rotWithShape="1">
            <a:blip r:embed="rId3">
              <a:alphaModFix/>
            </a:blip>
            <a:stretch>
              <a:fillRect b="0" l="0" r="0" t="0"/>
            </a:stretch>
          </a:blipFill>
          <a:ln>
            <a:noFill/>
          </a:ln>
        </p:spPr>
      </p:sp>
      <p:sp>
        <p:nvSpPr>
          <p:cNvPr id="442" name="Google Shape;442;p30"/>
          <p:cNvSpPr/>
          <p:nvPr/>
        </p:nvSpPr>
        <p:spPr>
          <a:xfrm rot="5400000">
            <a:off x="16645528" y="497845"/>
            <a:ext cx="629221" cy="629222"/>
          </a:xfrm>
          <a:custGeom>
            <a:rect b="b" l="l" r="r" t="t"/>
            <a:pathLst>
              <a:path extrusionOk="0" h="838962" w="838962">
                <a:moveTo>
                  <a:pt x="0" y="0"/>
                </a:moveTo>
                <a:lnTo>
                  <a:pt x="0" y="334645"/>
                </a:lnTo>
                <a:cubicBezTo>
                  <a:pt x="0" y="613156"/>
                  <a:pt x="225679" y="838962"/>
                  <a:pt x="504317" y="838962"/>
                </a:cubicBezTo>
                <a:lnTo>
                  <a:pt x="838962" y="838962"/>
                </a:lnTo>
                <a:lnTo>
                  <a:pt x="838962" y="504317"/>
                </a:lnTo>
                <a:cubicBezTo>
                  <a:pt x="838962" y="225806"/>
                  <a:pt x="613156" y="0"/>
                  <a:pt x="334645"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0"/>
          <p:cNvSpPr/>
          <p:nvPr/>
        </p:nvSpPr>
        <p:spPr>
          <a:xfrm rot="5400000">
            <a:off x="16016284" y="497846"/>
            <a:ext cx="629221" cy="629222"/>
          </a:xfrm>
          <a:custGeom>
            <a:rect b="b" l="l" r="r" t="t"/>
            <a:pathLst>
              <a:path extrusionOk="0" h="838962" w="838962">
                <a:moveTo>
                  <a:pt x="504190" y="0"/>
                </a:moveTo>
                <a:cubicBezTo>
                  <a:pt x="225679" y="0"/>
                  <a:pt x="0" y="225679"/>
                  <a:pt x="0" y="504190"/>
                </a:cubicBezTo>
                <a:lnTo>
                  <a:pt x="0" y="838962"/>
                </a:lnTo>
                <a:lnTo>
                  <a:pt x="334645" y="838962"/>
                </a:lnTo>
                <a:cubicBezTo>
                  <a:pt x="613156" y="838962"/>
                  <a:pt x="838962" y="613156"/>
                  <a:pt x="838962" y="334645"/>
                </a:cubicBezTo>
                <a:lnTo>
                  <a:pt x="838962" y="0"/>
                </a:ln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rot="5400000">
            <a:off x="15387028" y="497750"/>
            <a:ext cx="629221" cy="629222"/>
          </a:xfrm>
          <a:custGeom>
            <a:rect b="b" l="l" r="r" t="t"/>
            <a:pathLst>
              <a:path extrusionOk="0" h="838962" w="838962">
                <a:moveTo>
                  <a:pt x="838962" y="0"/>
                </a:moveTo>
                <a:lnTo>
                  <a:pt x="838962" y="334645"/>
                </a:lnTo>
                <a:cubicBezTo>
                  <a:pt x="838962" y="613156"/>
                  <a:pt x="613283" y="838962"/>
                  <a:pt x="334645" y="838962"/>
                </a:cubicBezTo>
                <a:lnTo>
                  <a:pt x="0" y="838962"/>
                </a:lnTo>
                <a:lnTo>
                  <a:pt x="0" y="504317"/>
                </a:lnTo>
                <a:cubicBezTo>
                  <a:pt x="0" y="225806"/>
                  <a:pt x="225806" y="0"/>
                  <a:pt x="504317"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rot="5400000">
            <a:off x="14757687" y="497798"/>
            <a:ext cx="629316" cy="629222"/>
          </a:xfrm>
          <a:custGeom>
            <a:rect b="b" l="l" r="r" t="t"/>
            <a:pathLst>
              <a:path extrusionOk="0" h="838962" w="839089">
                <a:moveTo>
                  <a:pt x="334772" y="0"/>
                </a:moveTo>
                <a:cubicBezTo>
                  <a:pt x="613283" y="0"/>
                  <a:pt x="839089" y="225806"/>
                  <a:pt x="839089" y="504317"/>
                </a:cubicBezTo>
                <a:lnTo>
                  <a:pt x="839089" y="838962"/>
                </a:lnTo>
                <a:lnTo>
                  <a:pt x="504317" y="838962"/>
                </a:lnTo>
                <a:cubicBezTo>
                  <a:pt x="225806" y="838962"/>
                  <a:pt x="0" y="613156"/>
                  <a:pt x="0" y="334645"/>
                </a:cubicBezTo>
                <a:lnTo>
                  <a:pt x="0" y="0"/>
                </a:lnTo>
                <a:close/>
              </a:path>
            </a:pathLst>
          </a:custGeom>
          <a:solidFill>
            <a:srgbClr val="85A9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txBox="1"/>
          <p:nvPr/>
        </p:nvSpPr>
        <p:spPr>
          <a:xfrm>
            <a:off x="3149027" y="3746650"/>
            <a:ext cx="5751300" cy="812700"/>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External API</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Mistral AI OCR</a:t>
            </a:r>
            <a:endParaRPr/>
          </a:p>
        </p:txBody>
      </p:sp>
      <p:sp>
        <p:nvSpPr>
          <p:cNvPr id="447" name="Google Shape;447;p30"/>
          <p:cNvSpPr txBox="1"/>
          <p:nvPr/>
        </p:nvSpPr>
        <p:spPr>
          <a:xfrm>
            <a:off x="10604829" y="3746650"/>
            <a:ext cx="5751300" cy="812700"/>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Add the possibility to change the contrast of the document.</a:t>
            </a:r>
            <a:endParaRPr/>
          </a:p>
        </p:txBody>
      </p:sp>
      <p:sp>
        <p:nvSpPr>
          <p:cNvPr id="448" name="Google Shape;448;p30"/>
          <p:cNvSpPr txBox="1"/>
          <p:nvPr/>
        </p:nvSpPr>
        <p:spPr>
          <a:xfrm>
            <a:off x="3149027" y="6945766"/>
            <a:ext cx="5751150" cy="733425"/>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Re-style the PDF so the user can read it without any screen-reader</a:t>
            </a:r>
            <a:endParaRPr/>
          </a:p>
        </p:txBody>
      </p:sp>
      <p:sp>
        <p:nvSpPr>
          <p:cNvPr id="449" name="Google Shape;449;p30"/>
          <p:cNvSpPr txBox="1"/>
          <p:nvPr/>
        </p:nvSpPr>
        <p:spPr>
          <a:xfrm>
            <a:off x="10604829" y="6860500"/>
            <a:ext cx="5751150" cy="1457325"/>
          </a:xfrm>
          <a:prstGeom prst="rect">
            <a:avLst/>
          </a:prstGeom>
          <a:noFill/>
          <a:ln>
            <a:noFill/>
          </a:ln>
        </p:spPr>
        <p:txBody>
          <a:bodyPr anchorCtr="0" anchor="t" bIns="0" lIns="0" spcFirstLastPara="1" rIns="0" wrap="square" tIns="0">
            <a:spAutoFit/>
          </a:bodyPr>
          <a:lstStyle/>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Send the product to the association so they can test it.</a:t>
            </a:r>
            <a:endParaRPr/>
          </a:p>
          <a:p>
            <a:pPr indent="-259079" lvl="1" marL="518160" marR="0" rtl="0" algn="l">
              <a:lnSpc>
                <a:spcPct val="119958"/>
              </a:lnSpc>
              <a:spcBef>
                <a:spcPts val="0"/>
              </a:spcBef>
              <a:spcAft>
                <a:spcPts val="0"/>
              </a:spcAft>
              <a:buClr>
                <a:srgbClr val="434343"/>
              </a:buClr>
              <a:buSzPts val="2400"/>
              <a:buFont typeface="Arial"/>
              <a:buChar char="•"/>
            </a:pPr>
            <a:r>
              <a:rPr b="0" i="0" lang="en-US" sz="2400" u="none" cap="none" strike="noStrike">
                <a:solidFill>
                  <a:srgbClr val="434343"/>
                </a:solidFill>
                <a:latin typeface="Arimo"/>
                <a:ea typeface="Arimo"/>
                <a:cs typeface="Arimo"/>
                <a:sym typeface="Arimo"/>
              </a:rPr>
              <a:t>Contact possible users so they could test the product.</a:t>
            </a:r>
            <a:endParaRPr/>
          </a:p>
        </p:txBody>
      </p:sp>
      <p:sp>
        <p:nvSpPr>
          <p:cNvPr id="450" name="Google Shape;450;p30"/>
          <p:cNvSpPr txBox="1"/>
          <p:nvPr/>
        </p:nvSpPr>
        <p:spPr>
          <a:xfrm>
            <a:off x="1531425" y="981475"/>
            <a:ext cx="15225150"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Future Improvement</a:t>
            </a:r>
            <a:endParaRPr/>
          </a:p>
        </p:txBody>
      </p:sp>
      <p:sp>
        <p:nvSpPr>
          <p:cNvPr id="451" name="Google Shape;451;p30"/>
          <p:cNvSpPr txBox="1"/>
          <p:nvPr/>
        </p:nvSpPr>
        <p:spPr>
          <a:xfrm>
            <a:off x="3149025" y="296372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Change OCR</a:t>
            </a:r>
            <a:endParaRPr/>
          </a:p>
        </p:txBody>
      </p:sp>
      <p:sp>
        <p:nvSpPr>
          <p:cNvPr id="452" name="Google Shape;452;p30"/>
          <p:cNvSpPr txBox="1"/>
          <p:nvPr/>
        </p:nvSpPr>
        <p:spPr>
          <a:xfrm>
            <a:off x="3149025" y="607757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Styling</a:t>
            </a:r>
            <a:endParaRPr/>
          </a:p>
        </p:txBody>
      </p:sp>
      <p:sp>
        <p:nvSpPr>
          <p:cNvPr id="453" name="Google Shape;453;p30"/>
          <p:cNvSpPr txBox="1"/>
          <p:nvPr/>
        </p:nvSpPr>
        <p:spPr>
          <a:xfrm>
            <a:off x="10604825" y="296372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Contrast</a:t>
            </a:r>
            <a:endParaRPr/>
          </a:p>
        </p:txBody>
      </p:sp>
      <p:sp>
        <p:nvSpPr>
          <p:cNvPr id="454" name="Google Shape;454;p30"/>
          <p:cNvSpPr txBox="1"/>
          <p:nvPr/>
        </p:nvSpPr>
        <p:spPr>
          <a:xfrm>
            <a:off x="10604825" y="6077575"/>
            <a:ext cx="57511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Real User Testing</a:t>
            </a:r>
            <a:endParaRPr/>
          </a:p>
        </p:txBody>
      </p:sp>
      <p:sp>
        <p:nvSpPr>
          <p:cNvPr id="455" name="Google Shape;455;p30"/>
          <p:cNvSpPr/>
          <p:nvPr/>
        </p:nvSpPr>
        <p:spPr>
          <a:xfrm>
            <a:off x="1850376" y="2609950"/>
            <a:ext cx="1054798"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456" name="Google Shape;456;p30"/>
          <p:cNvSpPr/>
          <p:nvPr/>
        </p:nvSpPr>
        <p:spPr>
          <a:xfrm>
            <a:off x="9306176" y="2609950"/>
            <a:ext cx="1054799"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457" name="Google Shape;457;p30"/>
          <p:cNvSpPr/>
          <p:nvPr/>
        </p:nvSpPr>
        <p:spPr>
          <a:xfrm>
            <a:off x="1840576" y="5723800"/>
            <a:ext cx="1054798" cy="1054799"/>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458" name="Google Shape;458;p30"/>
          <p:cNvSpPr/>
          <p:nvPr/>
        </p:nvSpPr>
        <p:spPr>
          <a:xfrm>
            <a:off x="9296376" y="5723800"/>
            <a:ext cx="1054799" cy="1054799"/>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459" name="Google Shape;459;p30"/>
          <p:cNvSpPr/>
          <p:nvPr/>
        </p:nvSpPr>
        <p:spPr>
          <a:xfrm>
            <a:off x="2013828" y="5897052"/>
            <a:ext cx="580154" cy="708272"/>
          </a:xfrm>
          <a:custGeom>
            <a:rect b="b" l="l" r="r" t="t"/>
            <a:pathLst>
              <a:path extrusionOk="0" h="708272" w="580154">
                <a:moveTo>
                  <a:pt x="0" y="0"/>
                </a:moveTo>
                <a:lnTo>
                  <a:pt x="580154" y="0"/>
                </a:lnTo>
                <a:lnTo>
                  <a:pt x="580154" y="708272"/>
                </a:lnTo>
                <a:lnTo>
                  <a:pt x="0" y="708272"/>
                </a:lnTo>
                <a:lnTo>
                  <a:pt x="0" y="0"/>
                </a:lnTo>
                <a:close/>
              </a:path>
            </a:pathLst>
          </a:custGeom>
          <a:blipFill rotWithShape="1">
            <a:blip r:embed="rId4">
              <a:alphaModFix/>
            </a:blip>
            <a:stretch>
              <a:fillRect b="0" l="0" r="0" t="0"/>
            </a:stretch>
          </a:blipFill>
          <a:ln>
            <a:noFill/>
          </a:ln>
        </p:spPr>
      </p:sp>
      <p:sp>
        <p:nvSpPr>
          <p:cNvPr id="460" name="Google Shape;460;p30"/>
          <p:cNvSpPr/>
          <p:nvPr/>
        </p:nvSpPr>
        <p:spPr>
          <a:xfrm>
            <a:off x="2013864" y="2784170"/>
            <a:ext cx="708272" cy="706360"/>
          </a:xfrm>
          <a:custGeom>
            <a:rect b="b" l="l" r="r" t="t"/>
            <a:pathLst>
              <a:path extrusionOk="0" h="706360" w="708272">
                <a:moveTo>
                  <a:pt x="0" y="0"/>
                </a:moveTo>
                <a:lnTo>
                  <a:pt x="708272" y="0"/>
                </a:lnTo>
                <a:lnTo>
                  <a:pt x="708272" y="706360"/>
                </a:lnTo>
                <a:lnTo>
                  <a:pt x="0" y="706360"/>
                </a:lnTo>
                <a:lnTo>
                  <a:pt x="0" y="0"/>
                </a:lnTo>
                <a:close/>
              </a:path>
            </a:pathLst>
          </a:custGeom>
          <a:blipFill rotWithShape="1">
            <a:blip r:embed="rId5">
              <a:alphaModFix/>
            </a:blip>
            <a:stretch>
              <a:fillRect b="0" l="0" r="0" t="0"/>
            </a:stretch>
          </a:blipFill>
          <a:ln>
            <a:noFill/>
          </a:ln>
        </p:spPr>
      </p:sp>
      <p:sp>
        <p:nvSpPr>
          <p:cNvPr id="461" name="Google Shape;461;p30"/>
          <p:cNvSpPr/>
          <p:nvPr/>
        </p:nvSpPr>
        <p:spPr>
          <a:xfrm>
            <a:off x="9479462" y="5897068"/>
            <a:ext cx="708272" cy="708272"/>
          </a:xfrm>
          <a:custGeom>
            <a:rect b="b" l="l" r="r" t="t"/>
            <a:pathLst>
              <a:path extrusionOk="0" h="708272" w="708272">
                <a:moveTo>
                  <a:pt x="0" y="0"/>
                </a:moveTo>
                <a:lnTo>
                  <a:pt x="708272" y="0"/>
                </a:lnTo>
                <a:lnTo>
                  <a:pt x="708272" y="708272"/>
                </a:lnTo>
                <a:lnTo>
                  <a:pt x="0" y="708272"/>
                </a:lnTo>
                <a:lnTo>
                  <a:pt x="0" y="0"/>
                </a:lnTo>
                <a:close/>
              </a:path>
            </a:pathLst>
          </a:custGeom>
          <a:blipFill rotWithShape="1">
            <a:blip r:embed="rId6">
              <a:alphaModFix/>
            </a:blip>
            <a:stretch>
              <a:fillRect b="0" l="0" r="0" t="0"/>
            </a:stretch>
          </a:blipFill>
          <a:ln>
            <a:noFill/>
          </a:ln>
        </p:spPr>
      </p:sp>
      <p:sp>
        <p:nvSpPr>
          <p:cNvPr id="462" name="Google Shape;462;p30"/>
          <p:cNvSpPr/>
          <p:nvPr/>
        </p:nvSpPr>
        <p:spPr>
          <a:xfrm>
            <a:off x="9476662" y="2804888"/>
            <a:ext cx="713892" cy="664928"/>
          </a:xfrm>
          <a:custGeom>
            <a:rect b="b" l="l" r="r" t="t"/>
            <a:pathLst>
              <a:path extrusionOk="0" h="664928" w="713892">
                <a:moveTo>
                  <a:pt x="0" y="0"/>
                </a:moveTo>
                <a:lnTo>
                  <a:pt x="713892" y="0"/>
                </a:lnTo>
                <a:lnTo>
                  <a:pt x="713892" y="664928"/>
                </a:lnTo>
                <a:lnTo>
                  <a:pt x="0" y="664928"/>
                </a:lnTo>
                <a:lnTo>
                  <a:pt x="0" y="0"/>
                </a:lnTo>
                <a:close/>
              </a:path>
            </a:pathLst>
          </a:custGeom>
          <a:blipFill rotWithShape="1">
            <a:blip r:embed="rId7">
              <a:alphaModFix/>
            </a:blip>
            <a:stretch>
              <a:fillRect b="0" l="0" r="0" t="0"/>
            </a:stretch>
          </a:blipFill>
          <a:ln>
            <a:noFill/>
          </a:ln>
        </p:spPr>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1"/>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1"/>
          <p:cNvSpPr txBox="1"/>
          <p:nvPr/>
        </p:nvSpPr>
        <p:spPr>
          <a:xfrm>
            <a:off x="7614384" y="6407718"/>
            <a:ext cx="8362782" cy="1838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2000" u="none" cap="none" strike="noStrike">
                <a:solidFill>
                  <a:srgbClr val="5757E8"/>
                </a:solidFill>
                <a:latin typeface="Prompt"/>
                <a:ea typeface="Prompt"/>
                <a:cs typeface="Prompt"/>
                <a:sym typeface="Prompt"/>
              </a:rPr>
              <a:t>Conclusion</a:t>
            </a:r>
            <a:endParaRPr/>
          </a:p>
        </p:txBody>
      </p:sp>
      <p:sp>
        <p:nvSpPr>
          <p:cNvPr id="473" name="Google Shape;473;p31"/>
          <p:cNvSpPr txBox="1"/>
          <p:nvPr/>
        </p:nvSpPr>
        <p:spPr>
          <a:xfrm>
            <a:off x="9235425" y="3705325"/>
            <a:ext cx="2560350" cy="1838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08</a:t>
            </a:r>
            <a:endParaRPr/>
          </a:p>
        </p:txBody>
      </p:sp>
      <p:sp>
        <p:nvSpPr>
          <p:cNvPr id="474" name="Google Shape;474;p31"/>
          <p:cNvSpPr/>
          <p:nvPr/>
        </p:nvSpPr>
        <p:spPr>
          <a:xfrm>
            <a:off x="4107154" y="3596638"/>
            <a:ext cx="3103180" cy="3098176"/>
          </a:xfrm>
          <a:custGeom>
            <a:rect b="b" l="l" r="r" t="t"/>
            <a:pathLst>
              <a:path extrusionOk="0" h="3098176" w="3103180">
                <a:moveTo>
                  <a:pt x="0" y="0"/>
                </a:moveTo>
                <a:lnTo>
                  <a:pt x="3103180" y="0"/>
                </a:lnTo>
                <a:lnTo>
                  <a:pt x="3103180" y="3098176"/>
                </a:lnTo>
                <a:lnTo>
                  <a:pt x="0" y="3098176"/>
                </a:lnTo>
                <a:lnTo>
                  <a:pt x="0" y="0"/>
                </a:lnTo>
                <a:close/>
              </a:path>
            </a:pathLst>
          </a:custGeom>
          <a:blipFill rotWithShape="1">
            <a:blip r:embed="rId3">
              <a:alphaModFix/>
            </a:blip>
            <a:stretch>
              <a:fillRect b="0" l="0" r="0" t="0"/>
            </a:stretch>
          </a:blipFill>
          <a:ln>
            <a:noFill/>
          </a:ln>
        </p:spPr>
      </p:sp>
      <p:sp>
        <p:nvSpPr>
          <p:cNvPr id="475" name="Google Shape;475;p31"/>
          <p:cNvSpPr/>
          <p:nvPr/>
        </p:nvSpPr>
        <p:spPr>
          <a:xfrm>
            <a:off x="1004274" y="493420"/>
            <a:ext cx="3103256" cy="3098176"/>
          </a:xfrm>
          <a:custGeom>
            <a:rect b="b" l="l" r="r" t="t"/>
            <a:pathLst>
              <a:path extrusionOk="0" h="3098176" w="3103256">
                <a:moveTo>
                  <a:pt x="0" y="0"/>
                </a:moveTo>
                <a:lnTo>
                  <a:pt x="3103256" y="0"/>
                </a:lnTo>
                <a:lnTo>
                  <a:pt x="3103256" y="3098176"/>
                </a:lnTo>
                <a:lnTo>
                  <a:pt x="0" y="3098176"/>
                </a:lnTo>
                <a:lnTo>
                  <a:pt x="0" y="0"/>
                </a:lnTo>
                <a:close/>
              </a:path>
            </a:pathLst>
          </a:custGeom>
          <a:blipFill rotWithShape="1">
            <a:blip r:embed="rId4">
              <a:alphaModFix/>
            </a:blip>
            <a:stretch>
              <a:fillRect b="0" l="0" r="0" t="0"/>
            </a:stretch>
          </a:blipFill>
          <a:ln>
            <a:noFill/>
          </a:ln>
        </p:spPr>
      </p:sp>
      <p:sp>
        <p:nvSpPr>
          <p:cNvPr id="476" name="Google Shape;476;p31"/>
          <p:cNvSpPr/>
          <p:nvPr/>
        </p:nvSpPr>
        <p:spPr>
          <a:xfrm>
            <a:off x="4107772" y="496048"/>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5">
              <a:alphaModFix/>
            </a:blip>
            <a:stretch>
              <a:fillRect b="0" l="0" r="0" t="0"/>
            </a:stretch>
          </a:blipFill>
          <a:ln>
            <a:noFill/>
          </a:ln>
        </p:spPr>
      </p:sp>
      <p:sp>
        <p:nvSpPr>
          <p:cNvPr id="477" name="Google Shape;477;p31"/>
          <p:cNvSpPr/>
          <p:nvPr/>
        </p:nvSpPr>
        <p:spPr>
          <a:xfrm>
            <a:off x="1004492" y="3591750"/>
            <a:ext cx="3103230" cy="3102946"/>
          </a:xfrm>
          <a:custGeom>
            <a:rect b="b" l="l" r="r" t="t"/>
            <a:pathLst>
              <a:path extrusionOk="0" h="3102946" w="3103230">
                <a:moveTo>
                  <a:pt x="0" y="0"/>
                </a:moveTo>
                <a:lnTo>
                  <a:pt x="3103230" y="0"/>
                </a:lnTo>
                <a:lnTo>
                  <a:pt x="3103230" y="3102946"/>
                </a:lnTo>
                <a:lnTo>
                  <a:pt x="0" y="3102946"/>
                </a:lnTo>
                <a:lnTo>
                  <a:pt x="0" y="0"/>
                </a:lnTo>
                <a:close/>
              </a:path>
            </a:pathLst>
          </a:custGeom>
          <a:blipFill rotWithShape="1">
            <a:blip r:embed="rId6">
              <a:alphaModFix/>
            </a:blip>
            <a:stretch>
              <a:fillRect b="0" l="0" r="0" t="0"/>
            </a:stretch>
          </a:blipFill>
          <a:ln>
            <a:noFill/>
          </a:ln>
        </p:spPr>
      </p:sp>
      <p:sp>
        <p:nvSpPr>
          <p:cNvPr id="478" name="Google Shape;478;p31"/>
          <p:cNvSpPr/>
          <p:nvPr/>
        </p:nvSpPr>
        <p:spPr>
          <a:xfrm>
            <a:off x="1004620" y="6694652"/>
            <a:ext cx="3103152" cy="3102774"/>
          </a:xfrm>
          <a:custGeom>
            <a:rect b="b" l="l" r="r" t="t"/>
            <a:pathLst>
              <a:path extrusionOk="0" h="3102774" w="3103152">
                <a:moveTo>
                  <a:pt x="0" y="0"/>
                </a:moveTo>
                <a:lnTo>
                  <a:pt x="3103152" y="0"/>
                </a:lnTo>
                <a:lnTo>
                  <a:pt x="3103152" y="3102774"/>
                </a:lnTo>
                <a:lnTo>
                  <a:pt x="0" y="3102774"/>
                </a:lnTo>
                <a:lnTo>
                  <a:pt x="0" y="0"/>
                </a:lnTo>
                <a:close/>
              </a:path>
            </a:pathLst>
          </a:custGeom>
          <a:blipFill rotWithShape="1">
            <a:blip r:embed="rId7">
              <a:alphaModFix/>
            </a:blip>
            <a:stretch>
              <a:fillRect b="0" l="0" r="0" t="0"/>
            </a:stretch>
          </a:blipFill>
          <a:ln>
            <a:noFill/>
          </a:ln>
        </p:spPr>
      </p:sp>
      <p:sp>
        <p:nvSpPr>
          <p:cNvPr id="479" name="Google Shape;479;p31"/>
          <p:cNvSpPr/>
          <p:nvPr/>
        </p:nvSpPr>
        <p:spPr>
          <a:xfrm>
            <a:off x="4107240" y="6694656"/>
            <a:ext cx="3103230" cy="3102774"/>
          </a:xfrm>
          <a:custGeom>
            <a:rect b="b" l="l" r="r" t="t"/>
            <a:pathLst>
              <a:path extrusionOk="0" h="3102774" w="3103230">
                <a:moveTo>
                  <a:pt x="0" y="0"/>
                </a:moveTo>
                <a:lnTo>
                  <a:pt x="3103230" y="0"/>
                </a:lnTo>
                <a:lnTo>
                  <a:pt x="3103230" y="3102774"/>
                </a:lnTo>
                <a:lnTo>
                  <a:pt x="0" y="3102774"/>
                </a:lnTo>
                <a:lnTo>
                  <a:pt x="0" y="0"/>
                </a:lnTo>
                <a:close/>
              </a:path>
            </a:pathLst>
          </a:custGeom>
          <a:blipFill rotWithShape="1">
            <a:blip r:embed="rId8">
              <a:alphaModFix/>
            </a:blip>
            <a:stretch>
              <a:fillRect b="0" l="0" r="0" t="0"/>
            </a:stretch>
          </a:blipFill>
          <a:ln>
            <a:noFill/>
          </a:ln>
        </p:spPr>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2"/>
          <p:cNvSpPr/>
          <p:nvPr/>
        </p:nvSpPr>
        <p:spPr>
          <a:xfrm>
            <a:off x="961650" y="447580"/>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2"/>
          <p:cNvSpPr/>
          <p:nvPr/>
        </p:nvSpPr>
        <p:spPr>
          <a:xfrm>
            <a:off x="1000348" y="9217365"/>
            <a:ext cx="1139095" cy="559118"/>
          </a:xfrm>
          <a:custGeom>
            <a:rect b="b" l="l" r="r" t="t"/>
            <a:pathLst>
              <a:path extrusionOk="0" h="745490" w="1518793">
                <a:moveTo>
                  <a:pt x="759841" y="0"/>
                </a:moveTo>
                <a:cubicBezTo>
                  <a:pt x="344170" y="0"/>
                  <a:pt x="7239" y="333248"/>
                  <a:pt x="0" y="745490"/>
                </a:cubicBezTo>
                <a:lnTo>
                  <a:pt x="1518793" y="745490"/>
                </a:lnTo>
                <a:cubicBezTo>
                  <a:pt x="1511554" y="333248"/>
                  <a:pt x="1174623" y="0"/>
                  <a:pt x="759841"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2"/>
          <p:cNvSpPr/>
          <p:nvPr/>
        </p:nvSpPr>
        <p:spPr>
          <a:xfrm>
            <a:off x="1732619" y="9217365"/>
            <a:ext cx="1138714" cy="559118"/>
          </a:xfrm>
          <a:custGeom>
            <a:rect b="b" l="l" r="r" t="t"/>
            <a:pathLst>
              <a:path extrusionOk="0" h="745490" w="1518285">
                <a:moveTo>
                  <a:pt x="758952" y="0"/>
                </a:moveTo>
                <a:cubicBezTo>
                  <a:pt x="343662" y="0"/>
                  <a:pt x="6731" y="333248"/>
                  <a:pt x="0" y="745490"/>
                </a:cubicBezTo>
                <a:lnTo>
                  <a:pt x="1518285" y="745490"/>
                </a:lnTo>
                <a:cubicBezTo>
                  <a:pt x="1511046" y="333248"/>
                  <a:pt x="1174623" y="0"/>
                  <a:pt x="758952"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2"/>
          <p:cNvSpPr/>
          <p:nvPr/>
        </p:nvSpPr>
        <p:spPr>
          <a:xfrm>
            <a:off x="2399061" y="9217365"/>
            <a:ext cx="1138714" cy="559118"/>
          </a:xfrm>
          <a:custGeom>
            <a:rect b="b" l="l" r="r" t="t"/>
            <a:pathLst>
              <a:path extrusionOk="0" h="745490" w="1518285">
                <a:moveTo>
                  <a:pt x="758952" y="0"/>
                </a:moveTo>
                <a:cubicBezTo>
                  <a:pt x="343662" y="0"/>
                  <a:pt x="7239" y="333248"/>
                  <a:pt x="0" y="745490"/>
                </a:cubicBezTo>
                <a:lnTo>
                  <a:pt x="1518285" y="745490"/>
                </a:lnTo>
                <a:cubicBezTo>
                  <a:pt x="1511554" y="333248"/>
                  <a:pt x="1174623" y="0"/>
                  <a:pt x="758952"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2"/>
          <p:cNvSpPr txBox="1"/>
          <p:nvPr/>
        </p:nvSpPr>
        <p:spPr>
          <a:xfrm>
            <a:off x="1531425" y="981475"/>
            <a:ext cx="109947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rgbClr val="434343"/>
                </a:solidFill>
                <a:latin typeface="Prompt"/>
                <a:ea typeface="Prompt"/>
                <a:cs typeface="Prompt"/>
                <a:sym typeface="Prompt"/>
              </a:rPr>
              <a:t>Wha</a:t>
            </a:r>
            <a:r>
              <a:rPr b="1" lang="en-US" sz="6000">
                <a:solidFill>
                  <a:srgbClr val="434343"/>
                </a:solidFill>
                <a:latin typeface="Prompt"/>
                <a:ea typeface="Prompt"/>
                <a:cs typeface="Prompt"/>
                <a:sym typeface="Prompt"/>
              </a:rPr>
              <a:t>t</a:t>
            </a:r>
            <a:r>
              <a:rPr b="1" i="0" lang="en-US" sz="6000" u="none" cap="none" strike="noStrike">
                <a:solidFill>
                  <a:srgbClr val="434343"/>
                </a:solidFill>
                <a:latin typeface="Prompt"/>
                <a:ea typeface="Prompt"/>
                <a:cs typeface="Prompt"/>
                <a:sym typeface="Prompt"/>
              </a:rPr>
              <a:t> Did I Learned</a:t>
            </a:r>
            <a:endParaRPr/>
          </a:p>
        </p:txBody>
      </p:sp>
      <p:sp>
        <p:nvSpPr>
          <p:cNvPr id="493" name="Google Shape;493;p32"/>
          <p:cNvSpPr/>
          <p:nvPr/>
        </p:nvSpPr>
        <p:spPr>
          <a:xfrm>
            <a:off x="16120945" y="1070000"/>
            <a:ext cx="736854" cy="736949"/>
          </a:xfrm>
          <a:custGeom>
            <a:rect b="b" l="l" r="r" t="t"/>
            <a:pathLst>
              <a:path extrusionOk="0" h="982599" w="982472">
                <a:moveTo>
                  <a:pt x="491236" y="0"/>
                </a:moveTo>
                <a:cubicBezTo>
                  <a:pt x="491236" y="0"/>
                  <a:pt x="491109" y="0"/>
                  <a:pt x="491109" y="0"/>
                </a:cubicBezTo>
                <a:cubicBezTo>
                  <a:pt x="219837" y="0"/>
                  <a:pt x="0" y="219964"/>
                  <a:pt x="0" y="491236"/>
                </a:cubicBezTo>
                <a:cubicBezTo>
                  <a:pt x="0" y="762508"/>
                  <a:pt x="219837" y="982599"/>
                  <a:pt x="491109" y="982599"/>
                </a:cubicBezTo>
                <a:cubicBezTo>
                  <a:pt x="762508" y="982599"/>
                  <a:pt x="982472" y="762635"/>
                  <a:pt x="982472" y="491236"/>
                </a:cubicBezTo>
                <a:cubicBezTo>
                  <a:pt x="982472" y="219837"/>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2"/>
          <p:cNvSpPr/>
          <p:nvPr/>
        </p:nvSpPr>
        <p:spPr>
          <a:xfrm>
            <a:off x="16120945" y="1565045"/>
            <a:ext cx="736854" cy="736854"/>
          </a:xfrm>
          <a:custGeom>
            <a:rect b="b" l="l" r="r" t="t"/>
            <a:pathLst>
              <a:path extrusionOk="0" h="982472" w="982472">
                <a:moveTo>
                  <a:pt x="491109" y="0"/>
                </a:moveTo>
                <a:cubicBezTo>
                  <a:pt x="219837" y="0"/>
                  <a:pt x="0" y="219837"/>
                  <a:pt x="0" y="491236"/>
                </a:cubicBezTo>
                <a:cubicBezTo>
                  <a:pt x="0" y="762635"/>
                  <a:pt x="219837" y="982472"/>
                  <a:pt x="491109" y="982472"/>
                </a:cubicBezTo>
                <a:cubicBezTo>
                  <a:pt x="762508" y="982472"/>
                  <a:pt x="982472" y="762635"/>
                  <a:pt x="982472" y="491236"/>
                </a:cubicBezTo>
                <a:cubicBezTo>
                  <a:pt x="982472" y="219837"/>
                  <a:pt x="762508" y="0"/>
                  <a:pt x="491109" y="0"/>
                </a:cubicBezTo>
                <a:close/>
              </a:path>
            </a:pathLst>
          </a:custGeom>
          <a:solidFill>
            <a:srgbClr val="EFE9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2"/>
          <p:cNvSpPr/>
          <p:nvPr/>
        </p:nvSpPr>
        <p:spPr>
          <a:xfrm>
            <a:off x="16120945" y="2670950"/>
            <a:ext cx="736854" cy="736949"/>
          </a:xfrm>
          <a:custGeom>
            <a:rect b="b" l="l" r="r" t="t"/>
            <a:pathLst>
              <a:path extrusionOk="0" h="982599" w="982472">
                <a:moveTo>
                  <a:pt x="491236" y="0"/>
                </a:moveTo>
                <a:cubicBezTo>
                  <a:pt x="491236" y="0"/>
                  <a:pt x="491109" y="0"/>
                  <a:pt x="491109" y="0"/>
                </a:cubicBezTo>
                <a:cubicBezTo>
                  <a:pt x="219837" y="0"/>
                  <a:pt x="0" y="219964"/>
                  <a:pt x="0" y="491363"/>
                </a:cubicBezTo>
                <a:cubicBezTo>
                  <a:pt x="0" y="762762"/>
                  <a:pt x="219837" y="982599"/>
                  <a:pt x="491109" y="982599"/>
                </a:cubicBezTo>
                <a:cubicBezTo>
                  <a:pt x="762508" y="982599"/>
                  <a:pt x="982472" y="762635"/>
                  <a:pt x="982472" y="491363"/>
                </a:cubicBezTo>
                <a:cubicBezTo>
                  <a:pt x="982472" y="220091"/>
                  <a:pt x="762635" y="0"/>
                  <a:pt x="491236" y="0"/>
                </a:cubicBezTo>
                <a:close/>
              </a:path>
            </a:pathLst>
          </a:custGeom>
          <a:solidFill>
            <a:srgbClr val="DBB3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2"/>
          <p:cNvSpPr/>
          <p:nvPr/>
        </p:nvSpPr>
        <p:spPr>
          <a:xfrm>
            <a:off x="7727756" y="6814014"/>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497" name="Google Shape;497;p32"/>
          <p:cNvSpPr txBox="1"/>
          <p:nvPr/>
        </p:nvSpPr>
        <p:spPr>
          <a:xfrm>
            <a:off x="10116772" y="3943316"/>
            <a:ext cx="5255002" cy="12096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Third-Party Communication</a:t>
            </a:r>
            <a:endParaRPr/>
          </a:p>
        </p:txBody>
      </p:sp>
      <p:sp>
        <p:nvSpPr>
          <p:cNvPr id="498" name="Google Shape;498;p32"/>
          <p:cNvSpPr txBox="1"/>
          <p:nvPr/>
        </p:nvSpPr>
        <p:spPr>
          <a:xfrm>
            <a:off x="2916226" y="3943316"/>
            <a:ext cx="4678583" cy="12096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Visually Impaired Persons Condition</a:t>
            </a:r>
            <a:endParaRPr/>
          </a:p>
        </p:txBody>
      </p:sp>
      <p:sp>
        <p:nvSpPr>
          <p:cNvPr id="499" name="Google Shape;499;p32"/>
          <p:cNvSpPr/>
          <p:nvPr/>
        </p:nvSpPr>
        <p:spPr>
          <a:xfrm>
            <a:off x="2916226" y="2717066"/>
            <a:ext cx="1054798" cy="1054798"/>
          </a:xfrm>
          <a:custGeom>
            <a:rect b="b" l="l" r="r" t="t"/>
            <a:pathLst>
              <a:path extrusionOk="0" h="1406398" w="1406398">
                <a:moveTo>
                  <a:pt x="0" y="0"/>
                </a:moveTo>
                <a:lnTo>
                  <a:pt x="1406398" y="0"/>
                </a:lnTo>
                <a:lnTo>
                  <a:pt x="1406398" y="1406398"/>
                </a:lnTo>
                <a:lnTo>
                  <a:pt x="0" y="1406398"/>
                </a:lnTo>
                <a:close/>
              </a:path>
            </a:pathLst>
          </a:custGeom>
          <a:solidFill>
            <a:srgbClr val="DBB3B4"/>
          </a:solidFill>
          <a:ln>
            <a:noFill/>
          </a:ln>
        </p:spPr>
      </p:sp>
      <p:sp>
        <p:nvSpPr>
          <p:cNvPr id="500" name="Google Shape;500;p32"/>
          <p:cNvSpPr/>
          <p:nvPr/>
        </p:nvSpPr>
        <p:spPr>
          <a:xfrm>
            <a:off x="3087612" y="3013698"/>
            <a:ext cx="712040" cy="461540"/>
          </a:xfrm>
          <a:custGeom>
            <a:rect b="b" l="l" r="r" t="t"/>
            <a:pathLst>
              <a:path extrusionOk="0" h="461540" w="712040">
                <a:moveTo>
                  <a:pt x="0" y="0"/>
                </a:moveTo>
                <a:lnTo>
                  <a:pt x="712040" y="0"/>
                </a:lnTo>
                <a:lnTo>
                  <a:pt x="712040" y="461540"/>
                </a:lnTo>
                <a:lnTo>
                  <a:pt x="0" y="461540"/>
                </a:lnTo>
                <a:lnTo>
                  <a:pt x="0" y="0"/>
                </a:lnTo>
                <a:close/>
              </a:path>
            </a:pathLst>
          </a:custGeom>
          <a:blipFill rotWithShape="1">
            <a:blip r:embed="rId3">
              <a:alphaModFix/>
            </a:blip>
            <a:stretch>
              <a:fillRect b="0" l="0" r="0" t="0"/>
            </a:stretch>
          </a:blipFill>
          <a:ln>
            <a:noFill/>
          </a:ln>
        </p:spPr>
      </p:sp>
      <p:sp>
        <p:nvSpPr>
          <p:cNvPr id="501" name="Google Shape;501;p32"/>
          <p:cNvSpPr/>
          <p:nvPr/>
        </p:nvSpPr>
        <p:spPr>
          <a:xfrm>
            <a:off x="10116772" y="2717066"/>
            <a:ext cx="1054799" cy="1054798"/>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502" name="Google Shape;502;p32"/>
          <p:cNvSpPr/>
          <p:nvPr/>
        </p:nvSpPr>
        <p:spPr>
          <a:xfrm>
            <a:off x="10290980" y="2890362"/>
            <a:ext cx="706360" cy="708214"/>
          </a:xfrm>
          <a:custGeom>
            <a:rect b="b" l="l" r="r" t="t"/>
            <a:pathLst>
              <a:path extrusionOk="0" h="708214" w="706360">
                <a:moveTo>
                  <a:pt x="0" y="0"/>
                </a:moveTo>
                <a:lnTo>
                  <a:pt x="706360" y="0"/>
                </a:lnTo>
                <a:lnTo>
                  <a:pt x="706360" y="708214"/>
                </a:lnTo>
                <a:lnTo>
                  <a:pt x="0" y="708214"/>
                </a:lnTo>
                <a:lnTo>
                  <a:pt x="0" y="0"/>
                </a:lnTo>
                <a:close/>
              </a:path>
            </a:pathLst>
          </a:custGeom>
          <a:blipFill rotWithShape="1">
            <a:blip r:embed="rId4">
              <a:alphaModFix/>
            </a:blip>
            <a:stretch>
              <a:fillRect b="0" l="0" r="0" t="0"/>
            </a:stretch>
          </a:blipFill>
          <a:ln>
            <a:noFill/>
          </a:ln>
        </p:spPr>
      </p:sp>
      <p:sp>
        <p:nvSpPr>
          <p:cNvPr id="503" name="Google Shape;503;p32"/>
          <p:cNvSpPr txBox="1"/>
          <p:nvPr/>
        </p:nvSpPr>
        <p:spPr>
          <a:xfrm>
            <a:off x="7686258" y="8119567"/>
            <a:ext cx="3946350" cy="371475"/>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32"/>
          <p:cNvSpPr txBox="1"/>
          <p:nvPr/>
        </p:nvSpPr>
        <p:spPr>
          <a:xfrm>
            <a:off x="7686258" y="7336648"/>
            <a:ext cx="394575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000" u="none" cap="none" strike="noStrike">
                <a:solidFill>
                  <a:srgbClr val="434343"/>
                </a:solidFill>
                <a:latin typeface="Prompt"/>
                <a:ea typeface="Prompt"/>
                <a:cs typeface="Prompt"/>
                <a:sym typeface="Prompt"/>
              </a:rPr>
              <a:t>Coding Skills</a:t>
            </a:r>
            <a:endParaRPr/>
          </a:p>
        </p:txBody>
      </p:sp>
      <p:grpSp>
        <p:nvGrpSpPr>
          <p:cNvPr id="505" name="Google Shape;505;p32"/>
          <p:cNvGrpSpPr/>
          <p:nvPr/>
        </p:nvGrpSpPr>
        <p:grpSpPr>
          <a:xfrm>
            <a:off x="8616600" y="5989984"/>
            <a:ext cx="1054799" cy="1054799"/>
            <a:chOff x="0" y="0"/>
            <a:chExt cx="1406398" cy="1406398"/>
          </a:xfrm>
        </p:grpSpPr>
        <p:sp>
          <p:nvSpPr>
            <p:cNvPr id="506" name="Google Shape;506;p32"/>
            <p:cNvSpPr/>
            <p:nvPr/>
          </p:nvSpPr>
          <p:spPr>
            <a:xfrm>
              <a:off x="0" y="0"/>
              <a:ext cx="1406398" cy="1406398"/>
            </a:xfrm>
            <a:custGeom>
              <a:rect b="b" l="l" r="r" t="t"/>
              <a:pathLst>
                <a:path extrusionOk="0" h="1406398" w="1406398">
                  <a:moveTo>
                    <a:pt x="0" y="0"/>
                  </a:moveTo>
                  <a:lnTo>
                    <a:pt x="1406398" y="0"/>
                  </a:lnTo>
                  <a:lnTo>
                    <a:pt x="1406398" y="1406398"/>
                  </a:lnTo>
                  <a:lnTo>
                    <a:pt x="0" y="1406398"/>
                  </a:lnTo>
                  <a:close/>
                </a:path>
              </a:pathLst>
            </a:custGeom>
            <a:solidFill>
              <a:srgbClr val="5757E8"/>
            </a:solidFill>
            <a:ln>
              <a:noFill/>
            </a:ln>
          </p:spPr>
        </p:sp>
        <p:sp>
          <p:nvSpPr>
            <p:cNvPr id="507" name="Google Shape;507;p32"/>
            <p:cNvSpPr/>
            <p:nvPr/>
          </p:nvSpPr>
          <p:spPr>
            <a:xfrm>
              <a:off x="201195" y="205272"/>
              <a:ext cx="1004008" cy="995845"/>
            </a:xfrm>
            <a:custGeom>
              <a:rect b="b" l="l" r="r" t="t"/>
              <a:pathLst>
                <a:path extrusionOk="0" h="995845" w="1004008">
                  <a:moveTo>
                    <a:pt x="0" y="0"/>
                  </a:moveTo>
                  <a:lnTo>
                    <a:pt x="1004008" y="0"/>
                  </a:lnTo>
                  <a:lnTo>
                    <a:pt x="1004008" y="995845"/>
                  </a:lnTo>
                  <a:lnTo>
                    <a:pt x="0" y="995845"/>
                  </a:lnTo>
                  <a:lnTo>
                    <a:pt x="0" y="0"/>
                  </a:lnTo>
                  <a:close/>
                </a:path>
              </a:pathLst>
            </a:custGeom>
            <a:blipFill rotWithShape="1">
              <a:blip r:embed="rId5">
                <a:alphaModFix/>
              </a:blip>
              <a:stretch>
                <a:fillRect b="0" l="0" r="0" t="0"/>
              </a:stretch>
            </a:blipFill>
            <a:ln>
              <a:noFill/>
            </a:ln>
          </p:spPr>
        </p:sp>
      </p:gr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3"/>
          <p:cNvSpPr/>
          <p:nvPr/>
        </p:nvSpPr>
        <p:spPr>
          <a:xfrm>
            <a:off x="994725" y="478975"/>
            <a:ext cx="16297656" cy="9329261"/>
          </a:xfrm>
          <a:custGeom>
            <a:rect b="b" l="l" r="r" t="t"/>
            <a:pathLst>
              <a:path extrusionOk="0" h="12439015" w="21730208">
                <a:moveTo>
                  <a:pt x="12700" y="0"/>
                </a:moveTo>
                <a:lnTo>
                  <a:pt x="21717508" y="0"/>
                </a:lnTo>
                <a:cubicBezTo>
                  <a:pt x="21724494" y="0"/>
                  <a:pt x="21730208" y="5715"/>
                  <a:pt x="21730208" y="12700"/>
                </a:cubicBezTo>
                <a:lnTo>
                  <a:pt x="21730208" y="12426315"/>
                </a:lnTo>
                <a:cubicBezTo>
                  <a:pt x="21730208" y="12433300"/>
                  <a:pt x="21724494" y="12439015"/>
                  <a:pt x="21717508" y="12439015"/>
                </a:cubicBezTo>
                <a:lnTo>
                  <a:pt x="12700" y="12439015"/>
                </a:lnTo>
                <a:cubicBezTo>
                  <a:pt x="5715" y="12439015"/>
                  <a:pt x="0" y="12433300"/>
                  <a:pt x="0" y="12426315"/>
                </a:cubicBezTo>
                <a:lnTo>
                  <a:pt x="0" y="12700"/>
                </a:lnTo>
                <a:cubicBezTo>
                  <a:pt x="0" y="5715"/>
                  <a:pt x="5715" y="0"/>
                  <a:pt x="12700" y="0"/>
                </a:cubicBezTo>
                <a:moveTo>
                  <a:pt x="12700" y="25400"/>
                </a:moveTo>
                <a:lnTo>
                  <a:pt x="12700" y="12700"/>
                </a:lnTo>
                <a:lnTo>
                  <a:pt x="25400" y="12700"/>
                </a:lnTo>
                <a:lnTo>
                  <a:pt x="25400" y="12426315"/>
                </a:lnTo>
                <a:lnTo>
                  <a:pt x="12700" y="12426315"/>
                </a:lnTo>
                <a:lnTo>
                  <a:pt x="12700" y="12413615"/>
                </a:lnTo>
                <a:lnTo>
                  <a:pt x="21717508" y="12413615"/>
                </a:lnTo>
                <a:lnTo>
                  <a:pt x="21717508" y="12426315"/>
                </a:lnTo>
                <a:lnTo>
                  <a:pt x="21704808" y="12426315"/>
                </a:lnTo>
                <a:lnTo>
                  <a:pt x="21704808" y="12700"/>
                </a:lnTo>
                <a:lnTo>
                  <a:pt x="21717508" y="12700"/>
                </a:lnTo>
                <a:lnTo>
                  <a:pt x="21717508" y="25400"/>
                </a:lnTo>
                <a:lnTo>
                  <a:pt x="12700" y="2540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 name="Google Shape;517;p33"/>
          <p:cNvGrpSpPr/>
          <p:nvPr/>
        </p:nvGrpSpPr>
        <p:grpSpPr>
          <a:xfrm>
            <a:off x="4765425" y="3908902"/>
            <a:ext cx="8757150" cy="2465619"/>
            <a:chOff x="0" y="-9525"/>
            <a:chExt cx="11676200" cy="3287492"/>
          </a:xfrm>
        </p:grpSpPr>
        <p:sp>
          <p:nvSpPr>
            <p:cNvPr id="518" name="Google Shape;518;p33"/>
            <p:cNvSpPr txBox="1"/>
            <p:nvPr/>
          </p:nvSpPr>
          <p:spPr>
            <a:xfrm>
              <a:off x="1333" y="2477867"/>
              <a:ext cx="11674600" cy="8001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434343"/>
                  </a:solidFill>
                  <a:latin typeface="Prompt"/>
                  <a:ea typeface="Prompt"/>
                  <a:cs typeface="Prompt"/>
                  <a:sym typeface="Prompt"/>
                </a:rPr>
                <a:t>Do you have any questions?</a:t>
              </a:r>
              <a:endParaRPr/>
            </a:p>
          </p:txBody>
        </p:sp>
        <p:sp>
          <p:nvSpPr>
            <p:cNvPr id="519" name="Google Shape;519;p33"/>
            <p:cNvSpPr txBox="1"/>
            <p:nvPr/>
          </p:nvSpPr>
          <p:spPr>
            <a:xfrm>
              <a:off x="0" y="-9525"/>
              <a:ext cx="11676200" cy="2243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2000" u="none" cap="none" strike="noStrike">
                  <a:solidFill>
                    <a:srgbClr val="434343"/>
                  </a:solidFill>
                  <a:latin typeface="Prompt"/>
                  <a:ea typeface="Prompt"/>
                  <a:cs typeface="Prompt"/>
                  <a:sym typeface="Prompt"/>
                </a:rPr>
                <a:t>Thanks!</a:t>
              </a:r>
              <a:endParaRPr/>
            </a:p>
          </p:txBody>
        </p:sp>
      </p:grpSp>
      <p:sp>
        <p:nvSpPr>
          <p:cNvPr id="520" name="Google Shape;520;p33"/>
          <p:cNvSpPr/>
          <p:nvPr/>
        </p:nvSpPr>
        <p:spPr>
          <a:xfrm>
            <a:off x="14948874" y="503824"/>
            <a:ext cx="2322630" cy="9282920"/>
          </a:xfrm>
          <a:custGeom>
            <a:rect b="b" l="l" r="r" t="t"/>
            <a:pathLst>
              <a:path extrusionOk="0" h="9282920" w="2322630">
                <a:moveTo>
                  <a:pt x="0" y="0"/>
                </a:moveTo>
                <a:lnTo>
                  <a:pt x="2322630" y="0"/>
                </a:lnTo>
                <a:lnTo>
                  <a:pt x="2322630" y="9282920"/>
                </a:lnTo>
                <a:lnTo>
                  <a:pt x="0" y="9282920"/>
                </a:lnTo>
                <a:lnTo>
                  <a:pt x="0" y="0"/>
                </a:lnTo>
                <a:close/>
              </a:path>
            </a:pathLst>
          </a:custGeom>
          <a:blipFill rotWithShape="1">
            <a:blip r:embed="rId3">
              <a:alphaModFix/>
            </a:blip>
            <a:stretch>
              <a:fillRect b="0" l="0" r="0" t="0"/>
            </a:stretch>
          </a:blipFill>
          <a:ln>
            <a:noFill/>
          </a:ln>
        </p:spPr>
      </p:sp>
      <p:sp>
        <p:nvSpPr>
          <p:cNvPr id="521" name="Google Shape;521;p33"/>
          <p:cNvSpPr/>
          <p:nvPr/>
        </p:nvSpPr>
        <p:spPr>
          <a:xfrm>
            <a:off x="1016310" y="502070"/>
            <a:ext cx="2322610" cy="9284676"/>
          </a:xfrm>
          <a:custGeom>
            <a:rect b="b" l="l" r="r" t="t"/>
            <a:pathLst>
              <a:path extrusionOk="0" h="9284676" w="2322610">
                <a:moveTo>
                  <a:pt x="0" y="0"/>
                </a:moveTo>
                <a:lnTo>
                  <a:pt x="2322610" y="0"/>
                </a:lnTo>
                <a:lnTo>
                  <a:pt x="2322610" y="9284676"/>
                </a:lnTo>
                <a:lnTo>
                  <a:pt x="0" y="9284676"/>
                </a:lnTo>
                <a:lnTo>
                  <a:pt x="0" y="0"/>
                </a:lnTo>
                <a:close/>
              </a:path>
            </a:pathLst>
          </a:custGeom>
          <a:blipFill rotWithShape="1">
            <a:blip r:embed="rId4">
              <a:alphaModFix/>
            </a:blip>
            <a:stretch>
              <a:fillRect b="0" l="0" r="0" t="0"/>
            </a:stretch>
          </a:blipFill>
          <a:ln>
            <a:noFill/>
          </a:ln>
        </p:spPr>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